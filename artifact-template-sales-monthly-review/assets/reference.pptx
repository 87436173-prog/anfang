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8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f11cc45fc64f1e" /><Relationship Type="http://schemas.openxmlformats.org/officeDocument/2006/relationships/extended-properties" Target="/docProps/app.xml" Id="R7454c41251464e22" /><Relationship Type="http://schemas.openxmlformats.org/officeDocument/2006/relationships/officeDocument" Target="/ppt/presentation.xml" Id="Rd055c166477249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c732fcfaa4c1f"/>
  </p:sldMasterIdLst>
  <p:notesMasterIdLst>
    <p:notesMasterId xmlns:r="http://schemas.openxmlformats.org/officeDocument/2006/relationships" r:id="Rd3ee725b90b24ec3"/>
  </p:notesMasterIdLst>
  <p:sldIdLst>
    <p:sldId xmlns:r="http://schemas.openxmlformats.org/officeDocument/2006/relationships" id="256" r:id="R801d94a444214b5e"/>
    <p:sldId xmlns:r="http://schemas.openxmlformats.org/officeDocument/2006/relationships" id="257" r:id="R71cd02252b97453d"/>
    <p:sldId xmlns:r="http://schemas.openxmlformats.org/officeDocument/2006/relationships" id="258" r:id="R36ea0f8249df41da"/>
    <p:sldId xmlns:r="http://schemas.openxmlformats.org/officeDocument/2006/relationships" id="259" r:id="R9185fcf7d57f4989"/>
    <p:sldId xmlns:r="http://schemas.openxmlformats.org/officeDocument/2006/relationships" id="260" r:id="R5421dcb2e23b4355"/>
    <p:sldId xmlns:r="http://schemas.openxmlformats.org/officeDocument/2006/relationships" id="261" r:id="R80ab596f04c243b6"/>
    <p:sldId xmlns:r="http://schemas.openxmlformats.org/officeDocument/2006/relationships" id="262" r:id="R93602fb772d74bfc"/>
    <p:sldId xmlns:r="http://schemas.openxmlformats.org/officeDocument/2006/relationships" id="263" r:id="R0ba79d928d7d4aae"/>
    <p:sldId xmlns:r="http://schemas.openxmlformats.org/officeDocument/2006/relationships" id="264" r:id="Ra739a1b4771d46f9"/>
    <p:sldId xmlns:r="http://schemas.openxmlformats.org/officeDocument/2006/relationships" id="265" r:id="Ra77c0037a3924a21"/>
    <p:sldId xmlns:r="http://schemas.openxmlformats.org/officeDocument/2006/relationships" id="266" r:id="R2374b8377f5e4405"/>
    <p:sldId xmlns:r="http://schemas.openxmlformats.org/officeDocument/2006/relationships" id="267" r:id="R820fbdf173914a4d"/>
    <p:sldId xmlns:r="http://schemas.openxmlformats.org/officeDocument/2006/relationships" id="268" r:id="Rc2209def7f794d65"/>
    <p:sldId xmlns:r="http://schemas.openxmlformats.org/officeDocument/2006/relationships" id="269" r:id="R1867c2ddb50f4bdc"/>
    <p:sldId xmlns:r="http://schemas.openxmlformats.org/officeDocument/2006/relationships" id="270" r:id="R506a0c9752fc4748"/>
    <p:sldId xmlns:r="http://schemas.openxmlformats.org/officeDocument/2006/relationships" id="271" r:id="Ra7cc11c571134f3a"/>
    <p:sldId xmlns:r="http://schemas.openxmlformats.org/officeDocument/2006/relationships" id="272" r:id="R5e217ca676634ddb"/>
    <p:sldId xmlns:r="http://schemas.openxmlformats.org/officeDocument/2006/relationships" id="273" r:id="R308bf8e76d3143a8"/>
    <p:sldId xmlns:r="http://schemas.openxmlformats.org/officeDocument/2006/relationships" id="274" r:id="R4845a9934a4e40e5"/>
    <p:sldId xmlns:r="http://schemas.openxmlformats.org/officeDocument/2006/relationships" id="275" r:id="R22b734f145414d33"/>
    <p:sldId xmlns:r="http://schemas.openxmlformats.org/officeDocument/2006/relationships" id="276" r:id="Rc5d3859876544638"/>
    <p:sldId xmlns:r="http://schemas.openxmlformats.org/officeDocument/2006/relationships" id="277" r:id="Re5bbcfba5fbf4a38"/>
    <p:sldId xmlns:r="http://schemas.openxmlformats.org/officeDocument/2006/relationships" id="278" r:id="R8844ceab91064cb9"/>
    <p:sldId xmlns:r="http://schemas.openxmlformats.org/officeDocument/2006/relationships" id="279" r:id="R42e0ca6504b84346"/>
    <p:sldId xmlns:r="http://schemas.openxmlformats.org/officeDocument/2006/relationships" id="280" r:id="R1f31b9b6e74a433f"/>
    <p:sldId xmlns:r="http://schemas.openxmlformats.org/officeDocument/2006/relationships" id="281" r:id="R8dce4d7710c5404f"/>
    <p:sldId xmlns:r="http://schemas.openxmlformats.org/officeDocument/2006/relationships" id="282" r:id="R24dffe43c86c4206"/>
    <p:sldId xmlns:r="http://schemas.openxmlformats.org/officeDocument/2006/relationships" id="283" r:id="R2dca1ef6678748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eb2ea98ad0476f" /><Relationship Type="http://schemas.openxmlformats.org/officeDocument/2006/relationships/slideMaster" Target="/ppt/slideMasters/slideMaster1.xml" Id="Rf55c732fcfaa4c1f" /><Relationship Type="http://schemas.openxmlformats.org/officeDocument/2006/relationships/notesMaster" Target="/ppt/notesMasters/notesMaster1.xml" Id="Rd3ee725b90b24ec3" /><Relationship Type="http://schemas.openxmlformats.org/officeDocument/2006/relationships/presProps" Target="/ppt/presProps.xml" Id="R98c8d4ebd4e94c27" /><Relationship Type="http://schemas.openxmlformats.org/officeDocument/2006/relationships/viewProps" Target="/ppt/viewProps.xml" Id="R051cbe9d83e7428e" /><Relationship Type="http://schemas.openxmlformats.org/officeDocument/2006/relationships/tableStyles" Target="/ppt/tableStyles.xml" Id="R0931ea47ac904c07" /><Relationship Type="http://schemas.openxmlformats.org/officeDocument/2006/relationships/slide" Target="/ppt/slides/slide1.xml" Id="R801d94a444214b5e" /><Relationship Type="http://schemas.openxmlformats.org/officeDocument/2006/relationships/slide" Target="/ppt/slides/slide2.xml" Id="R71cd02252b97453d" /><Relationship Type="http://schemas.openxmlformats.org/officeDocument/2006/relationships/slide" Target="/ppt/slides/slide3.xml" Id="R36ea0f8249df41da" /><Relationship Type="http://schemas.openxmlformats.org/officeDocument/2006/relationships/slide" Target="/ppt/slides/slide4.xml" Id="R9185fcf7d57f4989" /><Relationship Type="http://schemas.openxmlformats.org/officeDocument/2006/relationships/slide" Target="/ppt/slides/slide5.xml" Id="R5421dcb2e23b4355" /><Relationship Type="http://schemas.openxmlformats.org/officeDocument/2006/relationships/slide" Target="/ppt/slides/slide6.xml" Id="R80ab596f04c243b6" /><Relationship Type="http://schemas.openxmlformats.org/officeDocument/2006/relationships/slide" Target="/ppt/slides/slide7.xml" Id="R93602fb772d74bfc" /><Relationship Type="http://schemas.openxmlformats.org/officeDocument/2006/relationships/slide" Target="/ppt/slides/slide8.xml" Id="R0ba79d928d7d4aae" /><Relationship Type="http://schemas.openxmlformats.org/officeDocument/2006/relationships/slide" Target="/ppt/slides/slide9.xml" Id="Ra739a1b4771d46f9" /><Relationship Type="http://schemas.openxmlformats.org/officeDocument/2006/relationships/slide" Target="/ppt/slides/slide10.xml" Id="Ra77c0037a3924a21" /><Relationship Type="http://schemas.openxmlformats.org/officeDocument/2006/relationships/slide" Target="/ppt/slides/slide11.xml" Id="R2374b8377f5e4405" /><Relationship Type="http://schemas.openxmlformats.org/officeDocument/2006/relationships/slide" Target="/ppt/slides/slide12.xml" Id="R820fbdf173914a4d" /><Relationship Type="http://schemas.openxmlformats.org/officeDocument/2006/relationships/slide" Target="/ppt/slides/slide13.xml" Id="Rc2209def7f794d65" /><Relationship Type="http://schemas.openxmlformats.org/officeDocument/2006/relationships/slide" Target="/ppt/slides/slide14.xml" Id="R1867c2ddb50f4bdc" /><Relationship Type="http://schemas.openxmlformats.org/officeDocument/2006/relationships/slide" Target="/ppt/slides/slide15.xml" Id="R506a0c9752fc4748" /><Relationship Type="http://schemas.openxmlformats.org/officeDocument/2006/relationships/slide" Target="/ppt/slides/slide16.xml" Id="Ra7cc11c571134f3a" /><Relationship Type="http://schemas.openxmlformats.org/officeDocument/2006/relationships/slide" Target="/ppt/slides/slide17.xml" Id="R5e217ca676634ddb" /><Relationship Type="http://schemas.openxmlformats.org/officeDocument/2006/relationships/slide" Target="/ppt/slides/slide18.xml" Id="R308bf8e76d3143a8" /><Relationship Type="http://schemas.openxmlformats.org/officeDocument/2006/relationships/slide" Target="/ppt/slides/slide19.xml" Id="R4845a9934a4e40e5" /><Relationship Type="http://schemas.openxmlformats.org/officeDocument/2006/relationships/slide" Target="/ppt/slides/slide20.xml" Id="R22b734f145414d33" /><Relationship Type="http://schemas.openxmlformats.org/officeDocument/2006/relationships/slide" Target="/ppt/slides/slide21.xml" Id="Rc5d3859876544638" /><Relationship Type="http://schemas.openxmlformats.org/officeDocument/2006/relationships/slide" Target="/ppt/slides/slide22.xml" Id="Re5bbcfba5fbf4a38" /><Relationship Type="http://schemas.openxmlformats.org/officeDocument/2006/relationships/slide" Target="/ppt/slides/slide23.xml" Id="R8844ceab91064cb9" /><Relationship Type="http://schemas.openxmlformats.org/officeDocument/2006/relationships/slide" Target="/ppt/slides/slide24.xml" Id="R42e0ca6504b84346" /><Relationship Type="http://schemas.openxmlformats.org/officeDocument/2006/relationships/slide" Target="/ppt/slides/slide25.xml" Id="R1f31b9b6e74a433f" /><Relationship Type="http://schemas.openxmlformats.org/officeDocument/2006/relationships/slide" Target="/ppt/slides/slide26.xml" Id="R8dce4d7710c5404f" /><Relationship Type="http://schemas.openxmlformats.org/officeDocument/2006/relationships/slide" Target="/ppt/slides/slide27.xml" Id="R24dffe43c86c4206" /><Relationship Type="http://schemas.openxmlformats.org/officeDocument/2006/relationships/slide" Target="/ppt/slides/slide28.xml" Id="R2dca1ef6678748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5afa13ab1041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addecf3ded4958" /><Relationship Type="http://schemas.openxmlformats.org/officeDocument/2006/relationships/notesMaster" Target="/ppt/notesMasters/notesMaster1.xml" Id="R4a59f739664a45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ccbf8ca92d44c2" /><Relationship Type="http://schemas.openxmlformats.org/officeDocument/2006/relationships/notesMaster" Target="/ppt/notesMasters/notesMaster1.xml" Id="R51e6c11d5dd24a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07ac0546724b2e" /><Relationship Type="http://schemas.openxmlformats.org/officeDocument/2006/relationships/notesMaster" Target="/ppt/notesMasters/notesMaster1.xml" Id="Rb922d54ce6c8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179ece09b49ce" /><Relationship Type="http://schemas.openxmlformats.org/officeDocument/2006/relationships/notesMaster" Target="/ppt/notesMasters/notesMaster1.xml" Id="R1a9d380e23ac46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a2f7584c09409a" /><Relationship Type="http://schemas.openxmlformats.org/officeDocument/2006/relationships/notesMaster" Target="/ppt/notesMasters/notesMaster1.xml" Id="Re9a9a1556d4f49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2ab607d9c44a05" /><Relationship Type="http://schemas.openxmlformats.org/officeDocument/2006/relationships/notesMaster" Target="/ppt/notesMasters/notesMaster1.xml" Id="Rd716f5dd093644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bb0a8b358b4c3d" /><Relationship Type="http://schemas.openxmlformats.org/officeDocument/2006/relationships/notesMaster" Target="/ppt/notesMasters/notesMaster1.xml" Id="R2a99d683a96441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90bfe5b7434cc0" /><Relationship Type="http://schemas.openxmlformats.org/officeDocument/2006/relationships/notesMaster" Target="/ppt/notesMasters/notesMaster1.xml" Id="R7bec59799e224e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87606d4dae4742" /><Relationship Type="http://schemas.openxmlformats.org/officeDocument/2006/relationships/notesMaster" Target="/ppt/notesMasters/notesMaster1.xml" Id="R75b00b5f00634a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5b1af47fb944a5" /><Relationship Type="http://schemas.openxmlformats.org/officeDocument/2006/relationships/notesMaster" Target="/ppt/notesMasters/notesMaster1.xml" Id="R87a11aad0db741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c0c7971c0a4cd4" /><Relationship Type="http://schemas.openxmlformats.org/officeDocument/2006/relationships/notesMaster" Target="/ppt/notesMasters/notesMaster1.xml" Id="R46ff9992eeef44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5d6e9ec2364c9a" /><Relationship Type="http://schemas.openxmlformats.org/officeDocument/2006/relationships/notesMaster" Target="/ppt/notesMasters/notesMaster1.xml" Id="R03bc2d78cd294e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68915f9b7241a0" /><Relationship Type="http://schemas.openxmlformats.org/officeDocument/2006/relationships/notesMaster" Target="/ppt/notesMasters/notesMaster1.xml" Id="Rfe42aa162fc14f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7f61efe5934a06" /><Relationship Type="http://schemas.openxmlformats.org/officeDocument/2006/relationships/notesMaster" Target="/ppt/notesMasters/notesMaster1.xml" Id="R54b26f62f76c4b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d244ed730c4a72" /><Relationship Type="http://schemas.openxmlformats.org/officeDocument/2006/relationships/notesMaster" Target="/ppt/notesMasters/notesMaster1.xml" Id="R37fe7eb9f45244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b331b3134842d3" /><Relationship Type="http://schemas.openxmlformats.org/officeDocument/2006/relationships/notesMaster" Target="/ppt/notesMasters/notesMaster1.xml" Id="Re970f59366ec44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e8cff691044010" /><Relationship Type="http://schemas.openxmlformats.org/officeDocument/2006/relationships/notesMaster" Target="/ppt/notesMasters/notesMaster1.xml" Id="Rdaf6df1c5fe94e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5f9e94d7124ba2" /><Relationship Type="http://schemas.openxmlformats.org/officeDocument/2006/relationships/notesMaster" Target="/ppt/notesMasters/notesMaster1.xml" Id="Rc23ba82e039f48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230c8ea6cd4e47" /><Relationship Type="http://schemas.openxmlformats.org/officeDocument/2006/relationships/notesMaster" Target="/ppt/notesMasters/notesMaster1.xml" Id="R0d4669e98cdf4f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b0c0601c354afb" /><Relationship Type="http://schemas.openxmlformats.org/officeDocument/2006/relationships/notesMaster" Target="/ppt/notesMasters/notesMaster1.xml" Id="Rf477977499ca42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017579377444ff" /><Relationship Type="http://schemas.openxmlformats.org/officeDocument/2006/relationships/notesMaster" Target="/ppt/notesMasters/notesMaster1.xml" Id="Rc301b40429fb4d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f025f88d7d4cb1" /><Relationship Type="http://schemas.openxmlformats.org/officeDocument/2006/relationships/notesMaster" Target="/ppt/notesMasters/notesMaster1.xml" Id="R46ea6ddaaa1e484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8f775218794992" /><Relationship Type="http://schemas.openxmlformats.org/officeDocument/2006/relationships/notesMaster" Target="/ppt/notesMasters/notesMaster1.xml" Id="Rb9ba4a24f9ee41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80679624a5445cd" /><Relationship Type="http://schemas.openxmlformats.org/officeDocument/2006/relationships/notesMaster" Target="/ppt/notesMasters/notesMaster1.xml" Id="R2a2042efe4a141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8c39220983b476c" /><Relationship Type="http://schemas.openxmlformats.org/officeDocument/2006/relationships/notesMaster" Target="/ppt/notesMasters/notesMaster1.xml" Id="R2c0921d1be2b48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70ce70cc4f44d2" /><Relationship Type="http://schemas.openxmlformats.org/officeDocument/2006/relationships/notesMaster" Target="/ppt/notesMasters/notesMaster1.xml" Id="Rd44d2296cfc649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260a9c45db4390" /><Relationship Type="http://schemas.openxmlformats.org/officeDocument/2006/relationships/notesMaster" Target="/ppt/notesMasters/notesMaster1.xml" Id="Rc3b424e18daa4f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7ddf06a00434250" /><Relationship Type="http://schemas.openxmlformats.org/officeDocument/2006/relationships/notesMaster" Target="/ppt/notesMasters/notesMaster1.xml" Id="R5d8f94dbe7ac41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武汉驰恒航迪店销售部2026年9月总结。用户确认：9月、10月销量目标各110台，单车毛利目标各5500元。模板为驰恒店内分析总结模板，数据截至2026年9月30日。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目录：经营结果3至6页；业务分析7至16页；销售个人17至26页；10月目标27页。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来源：8/9月集团销售日报、9月航迪销售利润表及用户口径确认。96/110=87.27%；509480/94=5420。8月线索3185、首次进店459、订单108；9月2696、398、110。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来源：8月、9月集团销售日报航迪行；9月每日销量进度表航迪行。日开票合计96，28-30日4+6+8=18。96/30=3.2；94/31=3.0323。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8/9月集团销售日报、截至2026-09-30毛利排名表。武汉8月含武迪20台，9月未列该店，区域环比含门店范围变化；航迪按同店94至96对比。武汉9月6店开票合计392，航迪96/392=24.49%。毛利排名表航迪5420，武汉6店第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源文件Sheet1第2行总计1438，3-23行21家经销商之和1438。第7行航迪98，车型行和98，排名第5。D=大唐17，M=秦PLUS EV11，V=元UP17，W=元PLUS6。份额仅限所列经销商，不认定为全武汉完整市场。该表大唐17与利润表19、秦PLUS EV11与利润表10不同，不混用计算毛利。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来源：航迪9月销售日报渠道合计。线索206+1850+604+36=2696；订单31+41+7+31=110；开票30+36+5+23=94，另2。渠道占比以全店开票96为分母。转介绍31/36=86.1%可能含存量客户贡献，不能当作线索队列转化率。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来源：8月集团日报航迪行、9月航迪日报。首次成交率76/459=16.56%，60/398=15.08%；多次30/68=44.12%，50/95=52.63%。百分点使用原表显示值差额。8月两类订单之和与总订单不一致，保留差异，不强行补齐。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2026年9月驰恒航迪销售利润表。收入642193，支出132713，总利润509480。收入明细：[["提车差价",185250],["上牌费",20600],["手续费",6500],["金融返佣",163456],["新保返佣",19556],["延保返佣",18031],["全损无忧",21700],["厂家折让",146000],["贴膜",28200],["二手车返佣",32900]]；成本明细：[["贴息（厂家）",14135],["上牌成本",18800],["调库拖车费",10030],["精品成本",59296],["保养成本",5760],["售后代金券",1050],["服务费",10100],["税金成本",13542]]。金融163456+厂家146000=309456，占642193的48.188%；精品59296占132713的44.68%。其他收入147487。个人精品扣减取用户顾问月度毛利表各人精品负值绝对额/核算销量：李想7061/8=882.625、付世雄7642/10=764.2、张恒超5635/8=704.375，列金额前三。属于精品净扣减比较，不认定等同逐车赠送采购成本。个人精品各行合计与原表小计不一致，因此未用合计计算团队基准。车型毛利表无精品字段，缺少车型赠送精品明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来源：用户车型月度毛利表，全部17款有销量车型均列示。车型明细94台、毛利509481元，比总表多1元，全店合计沿用509480元。单车按该车型毛利/台数四舍五入；车型原表2026款宋L DM-i单车符号不一致，按-10117/3重算为-3372。全部明细：[["2026款夏",1,3865],["秦MAX EV",6,38030],["汉EV智驾版",1,1089],["第二代秦PLUS EV",10,19137],["秦MAX DM-i",2,6799],["元UP智驾版",6,12062],["秦L EV",3,5635],["汉L DM",1,-15069],["大唐EV",19,274481],["第三代元PLUS",6,47039],["宋Pro DM-i飞驰版",9,11641],["2026款秦L DM-i",5,-4116],["2026款秦PLUS DM-i",1,3034],["2026款宋L DM-i",3,-10117],["宋Ultra EV",9,63060],["宋Ultra DM-i",5,31784],["2027款元UP飞驰版",7,21127]]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补发顾问月度毛利表。10人数据：[{"name":"张德民","n":10,"gp":53311,"avg":5331},{"name":"付世雄","n":10,"gp":72638,"avg":7264},{"name":"李想","n":8,"gp":39104,"avg":4888},{"name":"李磊","n":10,"gp":71767,"avg":7177},{"name":"陈一兴","n":10,"gp":20616,"avg":2062},{"name":"张婷","n":5,"gp":14465,"avg":2893},{"name":"张恒超","n":8,"gp":34685,"avg":4336},{"name":"徐阳","n":11,"gp":50378,"avg":4580},{"name":"吴洁","n":15,"gp":120286,"avg":8019},{"name":"李增强","n":7,"gp":32230,"avg":4604}]。罗佳组48台257436，精确单车5363.25；刘柱46台252044，精确5479.217；展示采用原表整数。个人均值50948、9.4。达标者付世雄、李磊、吴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/Users/87436/Desktop/2026年8-9月销售录音明细及平均分.xlsx，平均分汇总A4:G25，录音明细A5:M289。独立核算：{"2026-08":{"n":119,"total":9096.3,"avg":76.43949579831933,"median":80,"min":0,"max":97,"zero":1,"lt60":13,"ge80":61,"ge90":18,"bands":[1,12,45,43,18]},"2026-09":{"n":165,"total":12071,"avg":73.15757575757576,"median":77,"min":42,"max":97,"zero":0,"lt60":31,"ge80":72,"ge90":7,"bands":[0,31,62,65,7]}}。均分按记录加权。按用户要求剔除张恒超9月R144的0分，其余数据不变，待评分记录不计0。8月含1条归属待核记录76分，个人表不归人；吴洁R094暂定归属按表保留。分数区间为分布描述，不是新增考核标准。接待共性问题经用户本轮明确允许补用原《2026年8—9月销售接待弱项分析与改善报告》9月已确认案例：P13张恒超彭/高客户、P14张婷9月陈/郭客户、P16李磊9月曾女士（试驾推进）；P15李想卢先生S17及P17付世雄王先生S17（赠品与报价完整性）；P13张恒超陈/高/吕客户、P16李磊易/曾客户及P19徐阳9月徐/董客户（优惠与车价表达）。仅概括重复出现问题，不计算发生率；8月案例、已撤销试驾误判及张恒超R144均未用于这些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来源：C:/Users/87436/Desktop/2026年8-9月销售录音明细及平均分.xlsx。平均分汇总A5:G14；9月分段条数由录音明细最终得分重算，末列严格小于70分，70分不计入。张恒超R144零分仍剔除。比较按同一销售跨月均分，样本条数不同。正向变化张德民、张婷、李想，共3人。陈一兴差值82.48-85.375=-2.895，按两位显示-2.90。吴洁归属敏感性74.60，不替代工作簿原72.54545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融单数来源为8、9月航迪销售日报。8月基数94台；9月根据用户新批注统一以毛利表核算销量94台为基数：厂家20/94=21.2766%，银行30/94=31.9149%，分期50/94=53.1915%。原表开票96台不修改。保险90单、保费477324.89元，单均5303.61；未店保5名，与实际开票96台差1台，不能算成店保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延保原表：转介绍78、有效对接57、成交22；刘柱38/28/13，罗佳40/29/9。按用户新批注统一销量基数：利润表94台，22/94=23.4043%。有效对接率57/78=73.0769%，对接后成交22/57=38.5965%；这两项分母不涉及销量，保留。未有效21，有效后未成交35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忧原表推荐74、成交31；产品12+18+1=31。按用户新批注统一以利润表94台为基数：推荐率74/94=78.7234%，渗透率31/94=32.9787%。推荐后成交率31/74=41.8919%。原表销量88仅保留为来源差异，不用于展示的渗透率。推荐次数与核算销量差20，不据此断定20名客户未推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10台、毛利53311元、单车5331元。用户本轮要求个人业务以毛利表销量为准，延保、无忧、银行的销量分母均为10。延保原始转介绍/有效/成交：7/3/1；无忧原始销量/推荐/成交：9/8/2，原始销量字段不再用于计算。银行2单。延保渗透率10.0%，无忧20.0%，银行20.0%。有效对接率仍为有效/转介绍；无忧推荐率为推荐/核算销量。排名和颜色按未取整比率计算，并列同色：[{"rank":9,"color":"000000","tied":true},{"rank":8,"color":"000000","tied":true},{"rank":7,"color":"000000","tied":true}]。接待来源C:/Users/87436/Desktop/2026年8-9月销售录音明细及平均分.xlsx，9月{"n":11,"total":766,"avg":69.63636363636364,"median":73,"min":54,"max":86,"zero":0,"lt60":3,"ge80":2,"ge90":0,"bands":[0,3,6,2,0]}；85分及以上条数1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10台、毛利72638元、单车7264元。用户本轮要求个人业务以毛利表销量为准，延保、无忧、银行的销量分母均为10。延保原始转介绍/有效/成交：9/5/1；无忧原始销量/推荐/成交：10/7/2，原始销量字段不再用于计算。银行4单。延保渗透率10.0%，无忧20.0%，银行40.0%。有效对接率仍为有效/转介绍；无忧推荐率为推荐/核算销量。排名和颜色按未取整比率计算，并列同色：[{"rank":9,"color":"000000","tied":true},{"rank":8,"color":"000000","tied":true},{"rank":2,"color":"C00000","tied":true}]。接待来源C:/Users/87436/Desktop/2026年8-9月销售录音明细及平均分.xlsx，9月{"n":16,"total":1155,"avg":72.1875,"median":71,"min":55,"max":89,"zero":0,"lt60":1,"ge80":5,"ge90":0,"bands":[0,1,10,5,0]}；85分及以上条数1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8台、毛利39104元、单车4888元。用户本轮要求个人业务以毛利表销量为准，延保、无忧、银行的销量分母均为8。延保原始转介绍/有效/成交：8/8/3；无忧原始销量/推荐/成交：8/8/2，原始销量字段不再用于计算。银行3单。延保渗透率37.5%，无忧25.0%，银行37.5%。有效对接率仍为有效/转介绍；无忧推荐率为推荐/核算销量。排名和颜色按未取整比率计算，并列同色：[{"rank":2,"color":"C00000","tied":true},{"rank":6,"color":"666666","tied":true},{"rank":4,"color":"666666","tied":true}]。接待来源C:/Users/87436/Desktop/2026年8-9月销售录音明细及平均分.xlsx，9月{"n":19,"total":1458,"avg":76.73684210526316,"median":80,"min":50,"max":91,"zero":0,"lt60":2,"ge80":10,"ge90":1,"bands":[0,2,7,9,1]}；85分及以上条数5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10台、毛利71767元、单车7177元。用户本轮要求个人业务以毛利表销量为准，延保、无忧、银行的销量分母均为10。延保原始转介绍/有效/成交：8/6/2；无忧原始销量/推荐/成交：10/8/5，原始销量字段不再用于计算。银行4单。延保渗透率20.0%，无忧50.0%，银行40.0%。有效对接率仍为有效/转介绍；无忧推荐率为推荐/核算销量。排名和颜色按未取整比率计算，并列同色：[{"rank":4,"color":"666666","tied":true},{"rank":2,"color":"C00000","tied":false},{"rank":2,"color":"C00000","tied":true}]。接待来源C:/Users/87436/Desktop/2026年8-9月销售录音明细及平均分.xlsx，9月{"n":17,"total":1185,"avg":69.70588235294117,"median":71,"min":52,"max":89,"zero":0,"lt60":3,"ge80":5,"ge90":0,"bands":[0,3,9,5,0]}；85分及以上条数3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10台、毛利20616元、单车2062元。用户本轮要求个人业务以毛利表销量为准，延保、无忧、银行的销量分母均为10。延保原始转介绍/有效/成交：8/7/2；无忧原始销量/推荐/成交：9/9/6，原始销量字段不再用于计算。银行2单。延保渗透率20.0%，无忧60.0%，银行20.0%。有效对接率仍为有效/转介绍；无忧推荐率为推荐/核算销量。排名和颜色按未取整比率计算，并列同色：[{"rank":4,"color":"666666","tied":true},{"rank":1,"color":"C00000","tied":false},{"rank":7,"color":"000000","tied":true}]。接待来源C:/Users/87436/Desktop/2026年8-9月销售录音明细及平均分.xlsx，9月{"n":25,"total":2062,"avg":82.48,"median":85,"min":48,"max":97,"zero":0,"lt60":2,"ge80":20,"ge90":5,"bands":[0,2,3,15,5]}；85分及以上条数14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5台、毛利14465元、单车2893元。用户本轮要求个人业务以毛利表销量为准，延保、无忧、银行的销量分母均为5。延保原始转介绍/有效/成交：3/3/1；无忧原始销量/推荐/成交：5/3/0，原始销量字段不再用于计算。银行1单。延保渗透率20.0%，无忧0.0%，银行20.0%。有效对接率仍为有效/转介绍；无忧推荐率为推荐/核算销量。排名和颜色按未取整比率计算，并列同色：[{"rank":4,"color":"666666","tied":true},{"rank":10,"color":"000000","tied":false},{"rank":7,"color":"000000","tied":true}]。接待来源C:/Users/87436/Desktop/2026年8-9月销售录音明细及平均分.xlsx，9月{"n":13,"total":861,"avg":66.23076923076923,"median":71,"min":43,"max":85,"zero":0,"lt60":6,"ge80":3,"ge90":0,"bands":[0,6,4,3,0]}；85分及以上条数1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8台、毛利34685元、单车4336元。用户本轮要求个人业务以毛利表销量为准，延保、无忧、银行的销量分母均为8。延保原始转介绍/有效/成交：8/5/3；无忧原始销量/推荐/成交：6/5/2，原始销量字段不再用于计算。银行3单。延保渗透率37.5%，无忧25.0%，银行37.5%。有效对接率仍为有效/转介绍；无忧推荐率为推荐/核算销量。排名和颜色按未取整比率计算，并列同色：[{"rank":2,"color":"C00000","tied":true},{"rank":6,"color":"666666","tied":true},{"rank":4,"color":"666666","tied":true}]。接待来源C:/Users/87436/Desktop/2026年8-9月销售录音明细及平均分.xlsx，9月{"n":16,"total":1152,"avg":72,"median":79.5,"min":44,"max":88,"zero":0,"lt60":3,"ge80":8,"ge90":0,"bands":[0,3,5,8,0]}；85分及以上条数3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11台、毛利50378元、单车4580元。用户本轮要求个人业务以毛利表销量为准，延保、无忧、银行的销量分母均为11。延保原始转介绍/有效/成交：9/6/2；无忧原始销量/推荐/成交：11/8/4，原始销量字段不再用于计算。银行6单。延保渗透率18.2%，无忧36.4%，银行54.5%。有效对接率仍为有效/转介绍；无忧推荐率为推荐/核算销量。排名和颜色按未取整比率计算，并列同色：[{"rank":7,"color":"666666","tied":false},{"rank":4,"color":"666666","tied":false},{"rank":1,"color":"C00000","tied":false}]。接待来源C:/Users/87436/Desktop/2026年8-9月销售录音明细及平均分.xlsx，9月{"n":13,"total":954,"avg":73.38461538461539,"median":76,"min":44,"max":83,"zero":0,"lt60":2,"ge80":5,"ge90":0,"bands":[0,2,6,5,0]}；85分及以上条数0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15台、毛利120286元、单车8019元。用户本轮要求个人业务以毛利表销量为准，延保、无忧、银行的销量分母均为15。延保原始转介绍/有效/成交：13/11/6；无忧原始销量/推荐/成交：13/12/6，原始销量字段不再用于计算。银行4单。延保渗透率40.0%，无忧40.0%，银行26.7%。有效对接率仍为有效/转介绍；无忧推荐率为推荐/核算销量。排名和颜色按未取整比率计算，并列同色：[{"rank":1,"color":"C00000","tied":false},{"rank":3,"color":"C00000","tied":false},{"rank":6,"color":"666666","tied":false}]。接待来源C:/Users/87436/Desktop/2026年8-9月销售录音明细及平均分.xlsx，9月{"n":11,"total":798,"avg":72.54545454545455,"median":80,"min":46,"max":87,"zero":0,"lt60":2,"ge80":6,"ge90":0,"bands":[0,2,3,6,0]}；85分及以上条数2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润表核算销量7台、毛利32230元、单车4604元。用户本轮要求个人业务以毛利表销量为准，延保、无忧、银行的销量分母均为7。延保原始转介绍/有效/成交：5/3/1；无忧原始销量/推荐/成交：7/6/2，原始销量字段不再用于计算。银行1单。延保渗透率14.3%，无忧28.6%，银行14.3%。有效对接率仍为有效/转介绍；无忧推荐率为推荐/核算销量。排名和颜色按未取整比率计算，并列同色：[{"rank":8,"color":"666666","tied":false},{"rank":5,"color":"666666","tied":false},{"rank":10,"color":"000000","tied":false}]。接待来源C:/Users/87436/Desktop/2026年8-9月销售录音明细及平均分.xlsx，9月{"n":24,"total":1680,"avg":70,"median":75.5,"min":42,"max":91,"zero":0,"lt60":7,"ge80":8,"ge90":1,"bands":[0,7,9,7,1]}；85分及以上条数3。张恒超R144按用户确认剔除，其他有效记录不变；吴洁暂定归属52分保留，去除后均分74.60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用户本次指定10月目标：分期渗透率65%、延保和无忧渗透率各45%、接待85分。销量沿用此前确认110台。本页仅展示目标。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沿用驰恒店内分析总结模板品牌结尾。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f8a19a8984f38" /><Relationship Type="http://schemas.openxmlformats.org/officeDocument/2006/relationships/image" Target="/ppt/media/image3.png" Id="R98ca0b7c26f6473b" /><Relationship Type="http://schemas.openxmlformats.org/officeDocument/2006/relationships/image" Target="/ppt/media/image4.png" Id="R88add5eb0973464c" /><Relationship Type="http://schemas.openxmlformats.org/officeDocument/2006/relationships/image" Target="/ppt/media/image5.png" Id="Re2c623cf59cb43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a31b0ad7f4010" /><Relationship Type="http://schemas.openxmlformats.org/officeDocument/2006/relationships/image" Target="/ppt/media/image3.png" Id="R1c48e3a3631f4b8b" /><Relationship Type="http://schemas.openxmlformats.org/officeDocument/2006/relationships/image" Target="/ppt/media/image4.png" Id="Raeaeb45edcf449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63e74bb9449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07a22dd814c03" /><Relationship Type="http://schemas.openxmlformats.org/officeDocument/2006/relationships/image" Target="/ppt/media/image.png" Id="R9d672f4181b94c03" /><Relationship Type="http://schemas.openxmlformats.org/officeDocument/2006/relationships/image" Target="/ppt/media/image2.png" Id="Rc382f5d91e72458d" /><Relationship Type="http://schemas.openxmlformats.org/officeDocument/2006/relationships/image" Target="/ppt/media/image6.png" Id="Rd083a8e474c0457a" /><Relationship Type="http://schemas.openxmlformats.org/officeDocument/2006/relationships/image" Target="/ppt/media/image.jpeg" Id="R57fb83eba6b04cd7" /><Relationship Type="http://schemas.openxmlformats.org/officeDocument/2006/relationships/image" Target="/ppt/media/image4.png" Id="R5aa4555a3bd24a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3b05af2b3454b" /><Relationship Type="http://schemas.openxmlformats.org/officeDocument/2006/relationships/image" Target="/ppt/media/image7.png" Id="R7379b0dd500647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438fafd174d68" /><Relationship Type="http://schemas.openxmlformats.org/officeDocument/2006/relationships/image" Target="/ppt/media/image7.png" Id="R8974beb59a324472" /></Relationships>
</file>

<file path=ppt/slideLayouts/slideLayout1.xml><?xml version="1.0" encoding="utf-8"?>
<p:sldLayout xmlns:p="http://schemas.openxmlformats.org/presentationml/2006/main" showMasterSp="0">
  <p:cSld name="内容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a0b7c26f647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35" y="0"/>
            <a:ext cx="12224779" cy="6876000"/>
          </a:xfrm>
          <a:prstGeom xmlns:a="http://schemas.openxmlformats.org/drawingml/2006/main" prst="rect">
            <a:avLst/>
          </a:prstGeom>
        </p:spPr>
      </p:pic>
      <p:pic>
        <p:nvPicPr>
          <p:cNvPr id="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dd5eb097346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70" y="282575"/>
            <a:ext cx="1010920" cy="212090"/>
          </a:xfrm>
          <a:prstGeom xmlns:a="http://schemas.openxmlformats.org/drawingml/2006/main" prst="rect">
            <a:avLst/>
          </a:prstGeom>
        </p:spPr>
      </p:pic>
      <p:pic>
        <p:nvPicPr>
          <p:cNvPr id="6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623cf59cb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1535" y="6403975"/>
            <a:ext cx="1831340" cy="25209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showMasterSp="0">
  <p:cSld name="1_内容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8e3a3631f4b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35" y="0"/>
            <a:ext cx="12224779" cy="6876000"/>
          </a:xfrm>
          <a:prstGeom xmlns:a="http://schemas.openxmlformats.org/drawingml/2006/main" prst="rect">
            <a:avLst/>
          </a:prstGeom>
        </p:spPr>
      </p:pic>
      <p:pic>
        <p:nvPicPr>
          <p:cNvPr id="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eb45edcf449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70" y="282575"/>
            <a:ext cx="1010920" cy="2120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>
  <p:cSld name="2_封底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A1BF4CA4-F8EF-41CD-8F72-E1779778046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>
  <p:cSld name="封面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72f4181b94c03"/>
          <a:srcRect xmlns:a="http://schemas.openxmlformats.org/drawingml/2006/main" l="0" t="2034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95117"/>
            <a:ext cx="12193201" cy="546323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41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2f5d91e72458d"/>
          <a:srcRect xmlns:a="http://schemas.openxmlformats.org/drawingml/2006/main" l="3594" t="20879" r="0" b="109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1649" y="236956"/>
            <a:ext cx="1536027" cy="33217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4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3a8e474c0457a"/>
          <a:srcRect xmlns:a="http://schemas.openxmlformats.org/drawingml/2006/main" l="0" t="9798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719801"/>
            <a:ext cx="12193201" cy="13855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4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b83eba6b04c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02" y="91"/>
            <a:ext cx="12243771" cy="6912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4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49A1381D-627D-4DCC-B2C9-888314A6812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4555a3bd24a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70" y="282575"/>
            <a:ext cx="1010920" cy="2120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showMasterSp="0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9b0dd500647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5620" y="2295643"/>
            <a:ext cx="4781963" cy="183524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2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F2554E00-2A41-4EFF-9D2B-7DC77AEB295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4beb59a3244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5620" y="2295643"/>
            <a:ext cx="4781963" cy="183524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0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A83F132F-0CAF-439E-A2BB-92D9C9F1C39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3a8c41255684400" /><Relationship Type="http://schemas.openxmlformats.org/officeDocument/2006/relationships/image" Target="/ppt/media/image2.png" Id="Rd7ad6c1800a144eb" /><Relationship Type="http://schemas.openxmlformats.org/officeDocument/2006/relationships/theme" Target="/ppt/slideMasters/theme/theme2.xml" Id="Rf25e26da00f3497b" /><Relationship Type="http://schemas.openxmlformats.org/officeDocument/2006/relationships/slideLayout" Target="/ppt/slideLayouts/slideLayout1.xml" Id="R9d25e5d729814dfa" /><Relationship Type="http://schemas.openxmlformats.org/officeDocument/2006/relationships/slideLayout" Target="/ppt/slideLayouts/slideLayout2.xml" Id="Rd5b0e739b9d24473" /><Relationship Type="http://schemas.openxmlformats.org/officeDocument/2006/relationships/slideLayout" Target="/ppt/slideLayouts/slideLayout3.xml" Id="R381649700a154b61" /><Relationship Type="http://schemas.openxmlformats.org/officeDocument/2006/relationships/slideLayout" Target="/ppt/slideLayouts/slideLayout4.xml" Id="R1e2bc5b8533340f0" /><Relationship Type="http://schemas.openxmlformats.org/officeDocument/2006/relationships/slideLayout" Target="/ppt/slideLayouts/slideLayout5.xml" Id="Rfe6a586bc9e8436c" /><Relationship Type="http://schemas.openxmlformats.org/officeDocument/2006/relationships/slideLayout" Target="/ppt/slideLayouts/slideLayout6.xml" Id="R90e45894fa464b2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8c41255684400"/>
          <a:srcRect xmlns:a="http://schemas.openxmlformats.org/drawingml/2006/main" l="0" t="2034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95117"/>
            <a:ext cx="12193201" cy="546323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d6c1800a144eb"/>
          <a:srcRect xmlns:a="http://schemas.openxmlformats.org/drawingml/2006/main" l="3594" t="20879" r="0" b="109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1649" y="236956"/>
            <a:ext cx="1536027" cy="33217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" name="标题文本">
            <a:extLst xmlns:a="http://schemas.openxmlformats.org/drawingml/2006/main">
              <a:ext uri="{FF2B5EF4-FFF2-40B4-BE49-F238E27FC236}">
                <a16:creationId xmlns:a16="http://schemas.microsoft.com/office/drawing/2014/main" id="{47FF415A-FD49-4B8C-BADC-933D5593D7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60" y="92079"/>
            <a:ext cx="10973880" cy="15082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r>
              <a:t>标题文本</a:t>
            </a:r>
          </a:p>
        </p:txBody>
      </p:sp>
      <p:sp>
        <p:nvSpPr>
          <p:cNvPr id="5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9201C88E-CEFB-4A87-A209-AE67304D0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60" y="1600282"/>
            <a:ext cx="10973880" cy="525807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r>
              <a:t>正文级别 1</a:t>
            </a:r>
          </a:p>
          <a:p xmlns:a="http://schemas.openxmlformats.org/drawingml/2006/main">
            <a:pPr lvl="1">
              <a:buNone/>
            </a:pPr>
            <a:r>
              <a:t>正文级别 2</a:t>
            </a:r>
          </a:p>
          <a:p xmlns:a="http://schemas.openxmlformats.org/drawingml/2006/main">
            <a:pPr lvl="2">
              <a:buNone/>
            </a:pPr>
            <a:r>
              <a:t>正文级别 3</a:t>
            </a:r>
          </a:p>
          <a:p xmlns:a="http://schemas.openxmlformats.org/drawingml/2006/main">
            <a:pPr lvl="3">
              <a:buNone/>
            </a:pPr>
            <a:r>
              <a:t>正文级别 4</a:t>
            </a:r>
          </a:p>
          <a:p xmlns:a="http://schemas.openxmlformats.org/drawingml/2006/main">
            <a:pPr lvl="4">
              <a:buNone/>
            </a:pPr>
            <a:r>
              <a:t>正文级别 5</a:t>
            </a:r>
          </a:p>
        </p:txBody>
      </p:sp>
      <p:sp>
        <p:nvSpPr>
          <p:cNvPr id="6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75431750-71EE-4DD4-BFEA-8B74000DA8C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3380" y="6172518"/>
            <a:ext cx="2845080" cy="368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600"/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25e5d729814dfa"/>
    <p:sldLayoutId xmlns:r="http://schemas.openxmlformats.org/officeDocument/2006/relationships" id="2147483650" r:id="Rd5b0e739b9d24473"/>
    <p:sldLayoutId xmlns:r="http://schemas.openxmlformats.org/officeDocument/2006/relationships" id="2147483651" r:id="R381649700a154b61"/>
    <p:sldLayoutId xmlns:r="http://schemas.openxmlformats.org/officeDocument/2006/relationships" id="2147483652" r:id="R1e2bc5b8533340f0"/>
    <p:sldLayoutId xmlns:r="http://schemas.openxmlformats.org/officeDocument/2006/relationships" id="2147483653" r:id="Rfe6a586bc9e8436c"/>
    <p:sldLayoutId xmlns:r="http://schemas.openxmlformats.org/officeDocument/2006/relationships" id="2147483654" r:id="R90e45894fa464b20"/>
  </p:sldLayoutIdLst>
  <p:txStyles>
    <p:titleStyle>
      <a:lvl1pPr xmlns:a="http://schemas.openxmlformats.org/drawingml/2006/main" marL="0" marR="0" indent="0" algn="ct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56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1pPr>
      <a:lvl2pPr xmlns:a="http://schemas.openxmlformats.org/drawingml/2006/main" marL="0" marR="0" indent="0" algn="ctr" defTabSz="8210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2pPr>
      <a:lvl3pPr xmlns:a="http://schemas.openxmlformats.org/drawingml/2006/main" marL="0" marR="0" indent="0" algn="ctr" defTabSz="8210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3pPr>
      <a:lvl4pPr xmlns:a="http://schemas.openxmlformats.org/drawingml/2006/main" marL="0" marR="0" indent="0" algn="ctr" defTabSz="8210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4pPr>
      <a:lvl5pPr xmlns:a="http://schemas.openxmlformats.org/drawingml/2006/main" marL="0" marR="0" indent="0" algn="ctr" defTabSz="8210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5pPr>
      <a:lvl6pPr xmlns:a="http://schemas.openxmlformats.org/drawingml/2006/main" marL="0" marR="0" indent="0" algn="ctr" defTabSz="8210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6pPr>
      <a:lvl7pPr xmlns:a="http://schemas.openxmlformats.org/drawingml/2006/main" marL="0" marR="0" indent="0" algn="ctr" defTabSz="8210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7pPr>
      <a:lvl8pPr xmlns:a="http://schemas.openxmlformats.org/drawingml/2006/main" marL="0" marR="0" indent="0" algn="ctr" defTabSz="8210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8pPr>
      <a:lvl9pPr xmlns:a="http://schemas.openxmlformats.org/drawingml/2006/main" marL="0" marR="0" indent="0" algn="ctr" defTabSz="8210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9pPr>
    </p:titleStyle>
    <p:bodyStyle>
      <a:lvl1pPr xmlns:a="http://schemas.openxmlformats.org/drawingml/2006/main" marL="309245" marR="0" indent="-309245" algn="l" defTabSz="410845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1pPr>
      <a:lvl2pPr xmlns:a="http://schemas.openxmlformats.org/drawingml/2006/main" marL="530860" marR="0" indent="-309245" algn="l" defTabSz="410845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2pPr>
      <a:lvl3pPr xmlns:a="http://schemas.openxmlformats.org/drawingml/2006/main" marL="753745" marR="0" indent="-309245" algn="l" defTabSz="410845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3pPr>
      <a:lvl4pPr xmlns:a="http://schemas.openxmlformats.org/drawingml/2006/main" marL="975360" marR="0" indent="-309245" algn="l" defTabSz="410845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4pPr>
      <a:lvl5pPr xmlns:a="http://schemas.openxmlformats.org/drawingml/2006/main" marL="1197610" marR="0" indent="-309245" algn="l" defTabSz="410845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5pPr>
      <a:lvl6pPr xmlns:a="http://schemas.openxmlformats.org/drawingml/2006/main" marL="1419860" marR="0" indent="-309245" algn="l" defTabSz="410845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6pPr>
      <a:lvl7pPr xmlns:a="http://schemas.openxmlformats.org/drawingml/2006/main" marL="1642110" marR="0" indent="-309245" algn="l" defTabSz="410845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7pPr>
      <a:lvl8pPr xmlns:a="http://schemas.openxmlformats.org/drawingml/2006/main" marL="1864360" marR="0" indent="-309245" algn="l" defTabSz="410845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8pPr>
      <a:lvl9pPr xmlns:a="http://schemas.openxmlformats.org/drawingml/2006/main" marL="2086610" marR="0" indent="-309245" algn="l" defTabSz="410845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cap="none" spc="0" baseline="0">
          <a:solidFill>
            <a:srgbClr val="000000"/>
          </a:solidFill>
          <a:latin typeface="Helvetica Light"/>
          <a:ea typeface="Helvetica Light"/>
          <a:cs typeface="Helvetica Light"/>
        </a:defRPr>
      </a:lvl9pPr>
    </p:bodyStyle>
    <p:otherStyle>
      <a:lvl1pPr xmlns:a="http://schemas.openxmlformats.org/drawingml/2006/main" marL="0" marR="0" indent="0" algn="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410845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ab5051b1f2141ff" /><Relationship Type="http://schemas.openxmlformats.org/officeDocument/2006/relationships/notesSlide" Target="/ppt/notesSlides/notesSlide1.xml" Id="R1424324f31614a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0aa141dd54dc2" /><Relationship Type="http://schemas.openxmlformats.org/officeDocument/2006/relationships/notesSlide" Target="/ppt/notesSlides/notesSlide2.xml" Id="R4291d41bd3c341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a0fad1aa841a6" /><Relationship Type="http://schemas.openxmlformats.org/officeDocument/2006/relationships/notesSlide" Target="/ppt/notesSlides/notesSlide3.xml" Id="R2626d2e965a247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0208a948d4f3a" /><Relationship Type="http://schemas.openxmlformats.org/officeDocument/2006/relationships/chart" Target="/ppt/slides/charts/chart1.xml" Id="Ra76f0c27a46b4e09" /><Relationship Type="http://schemas.openxmlformats.org/officeDocument/2006/relationships/notesSlide" Target="/ppt/notesSlides/notesSlide4.xml" Id="R475c3fe06d504d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de335c2f145cb" /><Relationship Type="http://schemas.openxmlformats.org/officeDocument/2006/relationships/chart" Target="/ppt/slides/charts/chart2.xml" Id="R01c6e2191ab840e2" /><Relationship Type="http://schemas.openxmlformats.org/officeDocument/2006/relationships/notesSlide" Target="/ppt/notesSlides/notesSlide5.xml" Id="R458022d40d344c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21d9413b04f61" /><Relationship Type="http://schemas.openxmlformats.org/officeDocument/2006/relationships/chart" Target="/ppt/slides/charts/chart3.xml" Id="Rb347fc19c6084636" /><Relationship Type="http://schemas.openxmlformats.org/officeDocument/2006/relationships/notesSlide" Target="/ppt/notesSlides/notesSlide6.xml" Id="R909b8d62a4e34d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5f3c2a2354bbc" /><Relationship Type="http://schemas.openxmlformats.org/officeDocument/2006/relationships/chart" Target="/ppt/slides/charts/chart4.xml" Id="Rb5e83a876435491a" /><Relationship Type="http://schemas.openxmlformats.org/officeDocument/2006/relationships/notesSlide" Target="/ppt/notesSlides/notesSlide7.xml" Id="R6d745a29bd964f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a8a42ba01451f" /><Relationship Type="http://schemas.openxmlformats.org/officeDocument/2006/relationships/notesSlide" Target="/ppt/notesSlides/notesSlide8.xml" Id="R202e0eda889b4f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d4e28e03e44b9" /><Relationship Type="http://schemas.openxmlformats.org/officeDocument/2006/relationships/chart" Target="/ppt/slides/charts/chart5.xml" Id="R7bd6ef92bb974de9" /><Relationship Type="http://schemas.openxmlformats.org/officeDocument/2006/relationships/notesSlide" Target="/ppt/notesSlides/notesSlide9.xml" Id="R6dec3f71aa8f44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bf7fa128c4e55" /><Relationship Type="http://schemas.openxmlformats.org/officeDocument/2006/relationships/notesSlide" Target="/ppt/notesSlides/notesSlide10.xml" Id="Rb713ec9cfc0a4c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4fc8e5c3444de" /><Relationship Type="http://schemas.openxmlformats.org/officeDocument/2006/relationships/chart" Target="/ppt/slides/charts/chart6.xml" Id="R3d95e97f67d04823" /><Relationship Type="http://schemas.openxmlformats.org/officeDocument/2006/relationships/notesSlide" Target="/ppt/notesSlides/notesSlide11.xml" Id="Rcb12c6e2236844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8a51f00e54a44" /><Relationship Type="http://schemas.openxmlformats.org/officeDocument/2006/relationships/chart" Target="/ppt/slides/charts/chart7.xml" Id="Rdfa0cd87396e4ed0" /><Relationship Type="http://schemas.openxmlformats.org/officeDocument/2006/relationships/notesSlide" Target="/ppt/notesSlides/notesSlide12.xml" Id="Re39ea208108143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9cd91e6ea4b49" /><Relationship Type="http://schemas.openxmlformats.org/officeDocument/2006/relationships/notesSlide" Target="/ppt/notesSlides/notesSlide13.xml" Id="Re63d35c2aa6c40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05f803dce4b50" /><Relationship Type="http://schemas.openxmlformats.org/officeDocument/2006/relationships/notesSlide" Target="/ppt/notesSlides/notesSlide14.xml" Id="Refab151ea23b4b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ea2690dfc423b" /><Relationship Type="http://schemas.openxmlformats.org/officeDocument/2006/relationships/notesSlide" Target="/ppt/notesSlides/notesSlide15.xml" Id="R263607b1174c41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cb64fa6f34a5e" /><Relationship Type="http://schemas.openxmlformats.org/officeDocument/2006/relationships/chart" Target="/ppt/slides/charts/chart8.xml" Id="Rc853b2421bea46aa" /><Relationship Type="http://schemas.openxmlformats.org/officeDocument/2006/relationships/notesSlide" Target="/ppt/notesSlides/notesSlide16.xml" Id="Rd26d9d58422649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37f0ef67b423b" /><Relationship Type="http://schemas.openxmlformats.org/officeDocument/2006/relationships/notesSlide" Target="/ppt/notesSlides/notesSlide17.xml" Id="R827da8fc347443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73a4d23034b85" /><Relationship Type="http://schemas.openxmlformats.org/officeDocument/2006/relationships/notesSlide" Target="/ppt/notesSlides/notesSlide18.xml" Id="R49abd2911bfc49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124af7b7146e2" /><Relationship Type="http://schemas.openxmlformats.org/officeDocument/2006/relationships/notesSlide" Target="/ppt/notesSlides/notesSlide19.xml" Id="Re594acfe9b6b476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720648fe94b21" /><Relationship Type="http://schemas.openxmlformats.org/officeDocument/2006/relationships/notesSlide" Target="/ppt/notesSlides/notesSlide20.xml" Id="Rc67c4f7773e146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b923d949e42ab" /><Relationship Type="http://schemas.openxmlformats.org/officeDocument/2006/relationships/notesSlide" Target="/ppt/notesSlides/notesSlide21.xml" Id="Re01806954aea46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a26154c8540fc" /><Relationship Type="http://schemas.openxmlformats.org/officeDocument/2006/relationships/notesSlide" Target="/ppt/notesSlides/notesSlide22.xml" Id="R1a4ccb4ef4544a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be437a6cd40e5" /><Relationship Type="http://schemas.openxmlformats.org/officeDocument/2006/relationships/notesSlide" Target="/ppt/notesSlides/notesSlide23.xml" Id="Re11bfada29c74e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46c54a5f440bf" /><Relationship Type="http://schemas.openxmlformats.org/officeDocument/2006/relationships/notesSlide" Target="/ppt/notesSlides/notesSlide24.xml" Id="R8342bcecfafd46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2d822b7014c96" /><Relationship Type="http://schemas.openxmlformats.org/officeDocument/2006/relationships/notesSlide" Target="/ppt/notesSlides/notesSlide25.xml" Id="R60132a26649045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22194843645c8" /><Relationship Type="http://schemas.openxmlformats.org/officeDocument/2006/relationships/notesSlide" Target="/ppt/notesSlides/notesSlide26.xml" Id="Rbd7e18a17e5542c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1e6d7dc654b5c" /><Relationship Type="http://schemas.openxmlformats.org/officeDocument/2006/relationships/notesSlide" Target="/ppt/notesSlides/notesSlide27.xml" Id="Rf31735e704fc49d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961ad852a24560" /><Relationship Type="http://schemas.openxmlformats.org/officeDocument/2006/relationships/image" Target="/ppt/media/image8.png" Id="R5e350fc0d1114e43" /><Relationship Type="http://schemas.openxmlformats.org/officeDocument/2006/relationships/notesSlide" Target="/ppt/notesSlides/notesSlide28.xml" Id="R4c554c80e42e4cf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每日开票</c:v>
          </c:tx>
          <c:spPr>
            <a:solidFill xmlns:a="http://schemas.openxmlformats.org/drawingml/2006/main">
              <a:srgbClr val="C00000"/>
            </a:solidFill>
            <a:ln xmlns:a="http://schemas.openxmlformats.org/drawingml/2006/main" w="23813">
              <a:solidFill>
                <a:srgbClr val="C000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00000"/>
              </a:solidFill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General</c:formatCode>
                <c:ptCount val="30"/>
                <c:pt idx="0">
                  <c:v>2</c:v>
                </c:pt>
                <c:pt idx="1">
                  <c:v>0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  <c:pt idx="5">
                  <c:v>0</c:v>
                </c:pt>
                <c:pt idx="6">
                  <c:v>2</c:v>
                </c:pt>
                <c:pt idx="7">
                  <c:v>6</c:v>
                </c:pt>
                <c:pt idx="8">
                  <c:v>3</c:v>
                </c:pt>
                <c:pt idx="9">
                  <c:v>2</c:v>
                </c:pt>
                <c:pt idx="10">
                  <c:v>5</c:v>
                </c:pt>
                <c:pt idx="11">
                  <c:v>0</c:v>
                </c:pt>
                <c:pt idx="12">
                  <c:v>7</c:v>
                </c:pt>
                <c:pt idx="13">
                  <c:v>5</c:v>
                </c:pt>
                <c:pt idx="14">
                  <c:v>4</c:v>
                </c:pt>
                <c:pt idx="15">
                  <c:v>8</c:v>
                </c:pt>
                <c:pt idx="16">
                  <c:v>0</c:v>
                </c:pt>
                <c:pt idx="17">
                  <c:v>2</c:v>
                </c:pt>
                <c:pt idx="18">
                  <c:v>0</c:v>
                </c:pt>
                <c:pt idx="19">
                  <c:v>6</c:v>
                </c:pt>
                <c:pt idx="20">
                  <c:v>3</c:v>
                </c:pt>
                <c:pt idx="21">
                  <c:v>2</c:v>
                </c:pt>
                <c:pt idx="22">
                  <c:v>3</c:v>
                </c:pt>
                <c:pt idx="23">
                  <c:v>7</c:v>
                </c:pt>
                <c:pt idx="24">
                  <c:v>0</c:v>
                </c:pt>
                <c:pt idx="25">
                  <c:v>0</c:v>
                </c:pt>
                <c:pt idx="26">
                  <c:v>2</c:v>
                </c:pt>
                <c:pt idx="27">
                  <c:v>4</c:v>
                </c:pt>
                <c:pt idx="28">
                  <c:v>6</c:v>
                </c:pt>
                <c:pt idx="29">
                  <c:v>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微软雅黑"/>
                    <a:ea typeface="微软雅黑"/>
                    <a:cs typeface="微软雅黑"/>
                  </a:rPr>
                  <a:t>日期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DF0F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8月</c:v>
          </c:tx>
          <c:spPr>
            <a:solidFill xmlns:a="http://schemas.openxmlformats.org/drawingml/2006/main">
              <a:srgbClr val="507CA3"/>
            </a:solidFill>
          </c:spPr>
          <c:cat>
            <c:strRef>
              <c:f>'Chart Data'!$A$2:$A$4</c:f>
              <c:strCache>
                <c:ptCount val="3"/>
                <c:pt idx="0">
                  <c:v>集团</c:v>
                </c:pt>
                <c:pt idx="1">
                  <c:v>武汉区域</c:v>
                </c:pt>
                <c:pt idx="2">
                  <c:v>航迪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1494</c:v>
                </c:pt>
                <c:pt idx="1">
                  <c:v>424</c:v>
                </c:pt>
                <c:pt idx="2">
                  <c:v>94</c:v>
                </c:pt>
              </c:numCache>
            </c:numRef>
          </c:val>
        </c:ser>
        <c:ser>
          <c:idx val="1"/>
          <c:order val="1"/>
          <c:tx>
            <c:v>9月</c:v>
          </c:tx>
          <c:spPr>
            <a:solidFill xmlns:a="http://schemas.openxmlformats.org/drawingml/2006/main">
              <a:srgbClr val="C00000"/>
            </a:solidFill>
          </c:spPr>
          <c:cat>
            <c:strRef>
              <c:f>'Chart Data'!$C$2:$C$4</c:f>
              <c:strCache>
                <c:ptCount val="3"/>
                <c:pt idx="0">
                  <c:v>集团</c:v>
                </c:pt>
                <c:pt idx="1">
                  <c:v>武汉区域</c:v>
                </c:pt>
                <c:pt idx="2">
                  <c:v>航迪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1503</c:v>
                </c:pt>
                <c:pt idx="1">
                  <c:v>392</c:v>
                </c:pt>
                <c:pt idx="2">
                  <c:v>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52525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B8BE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EDF0F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航迪占比</c:v>
          </c:tx>
          <c:spPr>
            <a:solidFill xmlns:a="http://schemas.openxmlformats.org/drawingml/2006/main">
              <a:srgbClr val="C00000"/>
            </a:solidFill>
          </c:spPr>
          <c:cat>
            <c:strRef>
              <c:f>'Chart Data'!$A$2:$A$5</c:f>
              <c:strCache>
                <c:ptCount val="4"/>
                <c:pt idx="0">
                  <c:v>大唐EV</c:v>
                </c:pt>
                <c:pt idx="1">
                  <c:v>秦PLUS EV</c:v>
                </c:pt>
                <c:pt idx="2">
                  <c:v>元UP</c:v>
                </c:pt>
                <c:pt idx="3">
                  <c:v>元PLUS</c:v>
                </c:pt>
              </c:strCache>
            </c:strRef>
          </c:cat>
          <c:val>
            <c:numRef>
              <c:f>'Chart Data'!$B$2:$B$5</c:f>
              <c:numCache>
                <c:formatCode>0.0"%"</c:formatCode>
                <c:ptCount val="4"/>
                <c:pt idx="0">
                  <c:v>17.3</c:v>
                </c:pt>
                <c:pt idx="1">
                  <c:v>11.2</c:v>
                </c:pt>
                <c:pt idx="2">
                  <c:v>17.3</c:v>
                </c:pt>
                <c:pt idx="3">
                  <c:v>6.1</c:v>
                </c:pt>
              </c:numCache>
            </c:numRef>
          </c:val>
        </c:ser>
        <c:ser>
          <c:idx val="1"/>
          <c:order val="1"/>
          <c:tx>
            <c:v>表内整体</c:v>
          </c:tx>
          <c:spPr>
            <a:solidFill xmlns:a="http://schemas.openxmlformats.org/drawingml/2006/main">
              <a:srgbClr val="507CA3"/>
            </a:solidFill>
          </c:spPr>
          <c:cat>
            <c:strRef>
              <c:f>'Chart Data'!$C$2:$C$5</c:f>
              <c:strCache>
                <c:ptCount val="4"/>
                <c:pt idx="0">
                  <c:v>大唐EV</c:v>
                </c:pt>
                <c:pt idx="1">
                  <c:v>秦PLUS EV</c:v>
                </c:pt>
                <c:pt idx="2">
                  <c:v>元UP</c:v>
                </c:pt>
                <c:pt idx="3">
                  <c:v>元PLUS</c:v>
                </c:pt>
              </c:strCache>
            </c:strRef>
          </c:cat>
          <c:val>
            <c:numRef>
              <c:f>'Chart Data'!$D$2:$D$5</c:f>
              <c:numCache>
                <c:formatCode>0.0"%"</c:formatCode>
                <c:ptCount val="4"/>
                <c:pt idx="0">
                  <c:v>14.8</c:v>
                </c:pt>
                <c:pt idx="1">
                  <c:v>5.3</c:v>
                </c:pt>
                <c:pt idx="2">
                  <c:v>19.7</c:v>
                </c:pt>
                <c:pt idx="3">
                  <c:v>12.8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52525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B8BE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EDF0F2"/>
              </a:solidFill>
            </a:ln>
          </c:spPr>
        </c:majorGridlines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订单</c:v>
          </c:tx>
          <c:spPr>
            <a:solidFill xmlns:a="http://schemas.openxmlformats.org/drawingml/2006/main">
              <a:srgbClr val="507CA3"/>
            </a:solidFill>
          </c:spPr>
          <c:cat>
            <c:strRef>
              <c:f>'Chart Data'!$A$2:$A$5</c:f>
              <c:strCache>
                <c:ptCount val="4"/>
                <c:pt idx="0">
                  <c:v>展厅线下</c:v>
                </c:pt>
                <c:pt idx="1">
                  <c:v>网销线上</c:v>
                </c:pt>
                <c:pt idx="2">
                  <c:v>新媒体</c:v>
                </c:pt>
                <c:pt idx="3">
                  <c:v>转介绍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31</c:v>
                </c:pt>
                <c:pt idx="1">
                  <c:v>41</c:v>
                </c:pt>
                <c:pt idx="2">
                  <c:v>7</c:v>
                </c:pt>
                <c:pt idx="3">
                  <c:v>31</c:v>
                </c:pt>
              </c:numCache>
            </c:numRef>
          </c:val>
        </c:ser>
        <c:ser>
          <c:idx val="1"/>
          <c:order val="1"/>
          <c:tx>
            <c:v>开票</c:v>
          </c:tx>
          <c:spPr>
            <a:solidFill xmlns:a="http://schemas.openxmlformats.org/drawingml/2006/main">
              <a:srgbClr val="C00000"/>
            </a:solidFill>
          </c:spPr>
          <c:cat>
            <c:strRef>
              <c:f>'Chart Data'!$C$2:$C$5</c:f>
              <c:strCache>
                <c:ptCount val="4"/>
                <c:pt idx="0">
                  <c:v>展厅线下</c:v>
                </c:pt>
                <c:pt idx="1">
                  <c:v>网销线上</c:v>
                </c:pt>
                <c:pt idx="2">
                  <c:v>新媒体</c:v>
                </c:pt>
                <c:pt idx="3">
                  <c:v>转介绍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30</c:v>
                </c:pt>
                <c:pt idx="1">
                  <c:v>36</c:v>
                </c:pt>
                <c:pt idx="2">
                  <c:v>5</c:v>
                </c:pt>
                <c:pt idx="3">
                  <c:v>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52525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B8BE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EDF0F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收入（万元）</c:v>
          </c:tx>
          <c:spPr>
            <a:solidFill xmlns:a="http://schemas.openxmlformats.org/drawingml/2006/main">
              <a:srgbClr val="C00000"/>
            </a:solidFill>
          </c:spPr>
          <c:cat>
            <c:strRef>
              <c:f>'Chart Data'!$A$2:$A$5</c:f>
              <c:strCache>
                <c:ptCount val="4"/>
                <c:pt idx="0">
                  <c:v>提车差价</c:v>
                </c:pt>
                <c:pt idx="1">
                  <c:v>金融返佣</c:v>
                </c:pt>
                <c:pt idx="2">
                  <c:v>厂家折让</c:v>
                </c:pt>
                <c:pt idx="3">
                  <c:v>其他收入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18.52</c:v>
                </c:pt>
                <c:pt idx="1">
                  <c:v>16.35</c:v>
                </c:pt>
                <c:pt idx="2">
                  <c:v>14.6</c:v>
                </c:pt>
                <c:pt idx="3">
                  <c:v>14.75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52525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B8BE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EDF0F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单车毛利（元）</c:v>
          </c:tx>
          <c:spPr>
            <a:solidFill xmlns:a="http://schemas.openxmlformats.org/drawingml/2006/main">
              <a:srgbClr val="C00000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53,311/5,331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72,638/7,264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39,104/4,888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71,767/7,177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20,616/2,062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14,465/2,893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34,685/4,336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50,378/4,580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120,286/8,019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>
                        <a:latin typeface="微软雅黑"/>
                        <a:ea typeface="微软雅黑"/>
                        <a:cs typeface="微软雅黑"/>
                      </a:rPr>
                      <a:t>32,230/4,604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>
                      <a:latin typeface="微软雅黑"/>
                      <a:ea typeface="微软雅黑"/>
                      <a:cs typeface="微软雅黑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Data'!$A$2:$A$11</c:f>
              <c:strCache>
                <c:ptCount val="10"/>
                <c:pt idx="0">
                  <c:v>张德民</c:v>
                </c:pt>
                <c:pt idx="1">
                  <c:v>付世雄</c:v>
                </c:pt>
                <c:pt idx="2">
                  <c:v>李想</c:v>
                </c:pt>
                <c:pt idx="3">
                  <c:v>李磊</c:v>
                </c:pt>
                <c:pt idx="4">
                  <c:v>陈一兴</c:v>
                </c:pt>
                <c:pt idx="5">
                  <c:v>张婷</c:v>
                </c:pt>
                <c:pt idx="6">
                  <c:v>张恒超</c:v>
                </c:pt>
                <c:pt idx="7">
                  <c:v>徐阳</c:v>
                </c:pt>
                <c:pt idx="8">
                  <c:v>吴洁</c:v>
                </c:pt>
                <c:pt idx="9">
                  <c:v>李增强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5331</c:v>
                </c:pt>
                <c:pt idx="1">
                  <c:v>7264</c:v>
                </c:pt>
                <c:pt idx="2">
                  <c:v>4888</c:v>
                </c:pt>
                <c:pt idx="3">
                  <c:v>7177</c:v>
                </c:pt>
                <c:pt idx="4">
                  <c:v>2062</c:v>
                </c:pt>
                <c:pt idx="5">
                  <c:v>2893</c:v>
                </c:pt>
                <c:pt idx="6">
                  <c:v>4336</c:v>
                </c:pt>
                <c:pt idx="7">
                  <c:v>4580</c:v>
                </c:pt>
                <c:pt idx="8">
                  <c:v>8019</c:v>
                </c:pt>
                <c:pt idx="9">
                  <c:v>4604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52525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1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DF0F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8月</c:v>
          </c:tx>
          <c:spPr>
            <a:solidFill xmlns:a="http://schemas.openxmlformats.org/drawingml/2006/main">
              <a:srgbClr val="507CA3"/>
            </a:solidFill>
          </c:spPr>
          <c:cat>
            <c:strRef>
              <c:f>'Chart Data'!$A$2:$A$5</c:f>
              <c:strCache>
                <c:ptCount val="4"/>
                <c:pt idx="0">
                  <c:v>低于60分</c:v>
                </c:pt>
                <c:pt idx="1">
                  <c:v>60至79分</c:v>
                </c:pt>
                <c:pt idx="2">
                  <c:v>80至89分</c:v>
                </c:pt>
                <c:pt idx="3">
                  <c:v>90分及以上</c:v>
                </c:pt>
              </c:strCache>
            </c:strRef>
          </c:cat>
          <c:val>
            <c:numRef>
              <c:f>'Chart Data'!$B$2:$B$5</c:f>
              <c:numCache>
                <c:formatCode>0.0"%"</c:formatCode>
                <c:ptCount val="4"/>
                <c:pt idx="0">
                  <c:v>10.9</c:v>
                </c:pt>
                <c:pt idx="1">
                  <c:v>37.8</c:v>
                </c:pt>
                <c:pt idx="2">
                  <c:v>36.1</c:v>
                </c:pt>
                <c:pt idx="3">
                  <c:v>15.1</c:v>
                </c:pt>
              </c:numCache>
            </c:numRef>
          </c:val>
        </c:ser>
        <c:ser>
          <c:idx val="1"/>
          <c:order val="1"/>
          <c:tx>
            <c:v>9月</c:v>
          </c:tx>
          <c:spPr>
            <a:solidFill xmlns:a="http://schemas.openxmlformats.org/drawingml/2006/main">
              <a:srgbClr val="C00000"/>
            </a:solidFill>
          </c:spPr>
          <c:cat>
            <c:strRef>
              <c:f>'Chart Data'!$C$2:$C$5</c:f>
              <c:strCache>
                <c:ptCount val="4"/>
                <c:pt idx="0">
                  <c:v>低于60分</c:v>
                </c:pt>
                <c:pt idx="1">
                  <c:v>60至79分</c:v>
                </c:pt>
                <c:pt idx="2">
                  <c:v>80至89分</c:v>
                </c:pt>
                <c:pt idx="3">
                  <c:v>90分及以上</c:v>
                </c:pt>
              </c:strCache>
            </c:strRef>
          </c:cat>
          <c:val>
            <c:numRef>
              <c:f>'Chart Data'!$D$2:$D$5</c:f>
              <c:numCache>
                <c:formatCode>0.0"%"</c:formatCode>
                <c:ptCount val="4"/>
                <c:pt idx="0">
                  <c:v>18.8</c:v>
                </c:pt>
                <c:pt idx="1">
                  <c:v>37.6</c:v>
                </c:pt>
                <c:pt idx="2">
                  <c:v>39.4</c:v>
                </c:pt>
                <c:pt idx="3">
                  <c:v>4.2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52525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B8BE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EDF0F2"/>
              </a:solidFill>
            </a:ln>
          </c:spPr>
        </c:majorGridlines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成交数量（单）</c:v>
          </c:tx>
          <c:spPr>
            <a:solidFill xmlns:a="http://schemas.openxmlformats.org/drawingml/2006/main">
              <a:srgbClr val="C00000"/>
            </a:solidFill>
          </c:spPr>
          <c:cat>
            <c:strRef>
              <c:f>'Chart Data'!$A$2:$A$4</c:f>
              <c:strCache>
                <c:ptCount val="3"/>
                <c:pt idx="0">
                  <c:v>换修无忧1年</c:v>
                </c:pt>
                <c:pt idx="1">
                  <c:v>换修无忧3年</c:v>
                </c:pt>
                <c:pt idx="2">
                  <c:v>迪行无忧3年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52525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B8BE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EDF0F2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2">
            <a:extLst xmlns:a="http://schemas.openxmlformats.org/drawingml/2006/main">
              <a:ext uri="{FF2B5EF4-FFF2-40B4-BE49-F238E27FC236}">
                <a16:creationId xmlns:a16="http://schemas.microsoft.com/office/drawing/2014/main" id="{2AB5B39C-C399-47DE-84C7-CE638BA9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635" y="2635250"/>
            <a:ext cx="6506845" cy="2399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l" defTabSz="410845">
              <a:lnSpc>
                <a:spcPct val="150000"/>
              </a:lnSpc>
              <a:buNone/>
            </a:pPr>
            <a:r>
              <a:rPr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/>
                <a:ea typeface="微软雅黑"/>
                <a:cs typeface="微软雅黑"/>
              </a:rPr>
              <a:t>9月销售总结</a:t>
            </a:r>
            <a:endParaRPr sz="4800" b="1" kern="0" spc="15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 defTabSz="410845">
              <a:lnSpc>
                <a:spcPct val="150000"/>
              </a:lnSpc>
              <a:buNone/>
            </a:pPr>
            <a:r>
              <a:rPr sz="3200">
                <a:solidFill>
                  <a:srgbClr val="DCDEE0">
                    <a:lumMod val="10000"/>
                  </a:srgbClr>
                </a:solidFill>
                <a:latin typeface="微软雅黑"/>
                <a:ea typeface="微软雅黑"/>
                <a:cs typeface="微软雅黑"/>
              </a:rPr>
              <a:t>  武汉驰恒航迪店</a:t>
            </a:r>
            <a:endParaRPr sz="2000" spc="150">
              <a:solidFill>
                <a:srgbClr val="DCDEE0">
                  <a:lumMod val="10000"/>
                </a:srgb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 defTabSz="410845">
              <a:lnSpc>
                <a:spcPct val="150000"/>
              </a:lnSpc>
              <a:buNone/>
            </a:pPr>
            <a:r>
              <a:rPr sz="2000">
                <a:solidFill>
                  <a:srgbClr val="DCDEE0">
                    <a:lumMod val="10000"/>
                  </a:srgbClr>
                </a:solidFill>
                <a:latin typeface="微软雅黑"/>
                <a:ea typeface="微软雅黑"/>
                <a:cs typeface="微软雅黑"/>
              </a:rPr>
              <a:t>  2026年9月｜经营复盘与销售顾问个人分析</a:t>
            </a:r>
            <a:endParaRPr sz="2000" b="1" cap="none" spc="150">
              <a:solidFill>
                <a:srgbClr val="DCDEE0">
                  <a:lumMod val="10000"/>
                </a:srgb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00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6858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5334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77061A41-36C7-493B-B8ED-32A7F0F2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02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6AC6E415-2DAF-4D3C-8D0F-088DE654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38F38782-ED57-41E6-8743-54EF36A7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经营结果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318E6CF2-A018-4557-A5C7-8084DB7E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03至06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7ECC97D2-642D-4259-ABEB-39CF416C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4C599001-E13D-441A-8FC9-840AF12D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业务分析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B94A71B1-6562-4F94-BD6D-1A4B3AB8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07至16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6351BAA6-2957-4186-95BD-A15A97FB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95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A9C93B8E-0300-4B3E-8E81-0F407B2C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385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个人复盘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5025F07B-3D7F-49B9-A15C-749A7C1B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147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17至26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041BEEA6-4265-4EAA-8312-7E806B1C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7D6CF2BA-2707-4A5C-A67A-F85A1C97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10月目标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0BB4D208-2FD0-43A9-BED3-F8DC3A5F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000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16002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14478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经营结果总览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57B2ACFB-E500-4C0A-986C-B4293320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03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48174DE7-F463-45A5-B43F-693C87FA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销量达成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01D62BF1-0001-450B-8196-2A87FE1C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87.3%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53B7D450-2F4B-459D-8561-8B103863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开票96台 / 目标110台，差14台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9CE90BFC-2308-4AAB-B7C9-50339596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销售毛利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6A545A0C-6B8A-4515-8AEE-42FCCF39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50.948万元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45486F4B-E53A-4FB1-830A-631B9FE5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4322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利润核算94台，不含试驾/回收车2台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0FDB7F5F-DA83-4E3E-8EA0-885A502C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A949AFD7-5AC9-4741-B526-A9D14B6D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05050"/>
            <a:ext cx="319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5,420元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06625973-B4AB-457A-84C4-81B76CB7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43225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目标5,500元，差80元/台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4181CD47-8F8A-4EBC-A423-F2D59617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新增线索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1B62540B-7B7A-4D81-8258-7AD61EB7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rPr>
              <a:t>2,696条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1EDD2F67-025A-4C79-8E86-9DF6DA36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较8月减少489条，下降15.4%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4B87EBAE-AC48-4A62-91E0-90E58972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首次进店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B3824AF9-4936-4BB7-8153-DEA7DA30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48175"/>
            <a:ext cx="338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rPr>
              <a:t>398次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07E66D7E-AB4E-4953-922E-23D59599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863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较8月减少61次，下降13.3%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76E6F4CC-4D11-4B67-9458-7885FD31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本月订单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13D82ECC-E964-4D87-9778-F4380425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48175"/>
            <a:ext cx="319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rPr>
              <a:t>110单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0797F3F8-A2B7-4AC1-9453-97838F62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8635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较8月增加2单，增长1.9%</a:t>
            </a:r>
          </a:p>
        </p:txBody>
      </p:sp>
    </p:spTree>
    <p:extLst>
      <p:ext uri="{BB962C8B-B14F-4D97-AF65-F5344CB8AC3E}">
        <p14:creationId xmlns:p14="http://schemas.microsoft.com/office/powerpoint/2010/main" val="900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860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133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销量目标与交付节奏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A262E356-69BE-42FC-A6F1-D8E1EE25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04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40C921A1-82D7-41AE-885F-AB32E62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销量小幅增长，目标仍差14台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D13DF0AE-EAAA-4D7F-BAFB-8824269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8月 → 9月开票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BDB66798-F995-41F1-94A9-37F9CA6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94 → 96台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98BAA824-CB75-4F13-9203-68EDE683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环比 +2.1%；9月目标110台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3144AADF-BD26-4183-B861-CBA41E2B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383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8月 → 9月订单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6DF47C8B-0E53-438E-A81D-096BBC09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145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rPr>
              <a:t>108 → 110单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D73C2EAB-E337-4A34-8786-0FC0DED6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1937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环比 +1.9%；订单不等于交付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C3D23152-48ED-4467-BD9E-ADCCBE52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383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月底28至30日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C79F0E07-987B-44F6-8D25-51728F1A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18台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AA5892BB-679D-49E6-A246-033A1534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占本月18.8%；最后一日8台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DA82067C-F8C6-466B-9D39-0B1E2340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9月每日开票量（台）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28650" y="3476625"/>
          <a:ext xmlns:a="http://schemas.openxmlformats.org/drawingml/2006/main" cx="10953750" cy="2200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6f0c27a46b4e09"/>
          </a:graphicData>
        </a:graphic>
      </p:graphicFrame>
      <p:sp>
        <p:nvSpPr>
          <p:cNvPr id="18" name="txt-16">
            <a:extLst xmlns:a="http://schemas.openxmlformats.org/drawingml/2006/main">
              <a:ext uri="{FF2B5EF4-FFF2-40B4-BE49-F238E27FC236}">
                <a16:creationId xmlns:a16="http://schemas.microsoft.com/office/drawing/2014/main" id="{B32E5267-6559-4F58-B8EB-A2F0F587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零销量日期：9月2日、6日、12日、17日、19日、25日、26日，共7天</a:t>
            </a:r>
          </a:p>
        </p:txBody>
      </p:sp>
    </p:spTree>
    <p:extLst>
      <p:ext uri="{BB962C8B-B14F-4D97-AF65-F5344CB8AC3E}">
        <p14:creationId xmlns:p14="http://schemas.microsoft.com/office/powerpoint/2010/main" val="900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860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133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集团及武汉区域对标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AB8360E4-2B53-46A1-B965-B7267254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05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6348F960-324D-475E-B3DE-C95CF32D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集团整体持平，航迪开票量居武汉区域首位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BA74EC00-1C01-4F1B-AAE7-C632390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811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8至9月开票对比（台）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6286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c6e2191ab840e2"/>
          </a:graphicData>
        </a:graphic>
      </p:graphicFrame>
      <p:graphicFrame>
        <p:nvGraphicFramePr>
          <p:cNvPr id="24" name=""/>
          <p:cNvGraphicFramePr/>
          <p:nvPr/>
        </p:nvGraphicFramePr>
        <p:xfrm>
          <a:off xmlns:a="http://schemas.openxmlformats.org/drawingml/2006/main" x="7124700" y="1952625"/>
          <a:ext xmlns:a="http://schemas.openxmlformats.org/drawingml/2006/main" cx="43815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257300"/>
                <a:gridCol w="1600200"/>
              </a:tblGrid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9月武汉门店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开票（台）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单车毛利（元）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航迪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5,420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广迪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6,101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悦迪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6,227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荣迪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6,422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鸿迪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5,291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成迪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5,258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608A61A3-5566-425D-9DF5-AFDBC3ED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集团 +0.6%   武汉 -7.5%   航迪 +2.1%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806AE7EF-5EBE-45CA-9EF2-AA60A1D7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3530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航迪：开票第1 / 单车毛利第4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CA361D41-2339-4241-A333-A0F6C71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4357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区域环比含门店范围变化：8月有武迪20台，9月未列</a:t>
            </a:r>
          </a:p>
        </p:txBody>
      </p:sp>
    </p:spTree>
    <p:extLst>
      <p:ext uri="{BB962C8B-B14F-4D97-AF65-F5344CB8AC3E}">
        <p14:creationId xmlns:p14="http://schemas.microsoft.com/office/powerpoint/2010/main" val="900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860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133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武汉经销商市场对标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47F4B265-ECB1-4388-81BB-6B5BDF74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06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A7C95C12-FBA2-4DD7-98B2-70E76D39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所列21家经销商中，航迪98台、排名第5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40005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714500"/>
              </a:tblGrid>
              <a:tr h="455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经销商简称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9月销量（台）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路迪恒泰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精华龙康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105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惠浩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盛世路骐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101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556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驰恒航迪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000625" y="2209800"/>
          <a:ext xmlns:a="http://schemas.openxmlformats.org/drawingml/2006/main" cx="65722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47fc19c6084636"/>
          </a:graphicData>
        </a:graphic>
      </p:graphicFrame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36BE2B06-65C0-443B-8A94-543D66E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383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销量车型结构对比（%）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0B353B2A-2EB2-4DF6-8472-AADDDB6E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表内销量占比6.82%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距第4名3台，距第1名20台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D46FE59D-5358-465D-BBEC-FC10980E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864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元PLUS占比6.1%，低于表内12.8%，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相差6.7个百分点</a:t>
            </a:r>
          </a:p>
        </p:txBody>
      </p:sp>
    </p:spTree>
    <p:extLst>
      <p:ext uri="{BB962C8B-B14F-4D97-AF65-F5344CB8AC3E}">
        <p14:creationId xmlns:p14="http://schemas.microsoft.com/office/powerpoint/2010/main" val="9000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16002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14478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销售渠道结构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93F05972-DB81-439C-AFB9-DB5CE75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07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CFED0DC8-712D-4FF2-8E85-C9C8644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网销贡献最多开票，转介绍以较少线索形成订单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17F9AAAB-36F9-4901-AB3C-CB8B71E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811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9月各渠道订单（单）与开票（台）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71500" y="2228850"/>
          <a:ext xmlns:a="http://schemas.openxmlformats.org/drawingml/2006/main" cx="6257925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e83a876435491a"/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7200900" y="2019300"/>
          <a:ext xmlns:a="http://schemas.openxmlformats.org/drawingml/2006/main" cx="428625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047750"/>
                <a:gridCol w="1619250"/>
              </a:tblGrid>
              <a:tr h="4610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渠道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线索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订单/线索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展厅线下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网销线上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1850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新媒体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转介绍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86.1%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D2BF1CF2-F3A6-4449-9FC5-0F979975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00575"/>
            <a:ext cx="3952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网销36台 / 37.5%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转介绍23台 / 24.0%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E8A3E139-9A8D-401C-A43E-3BBDF613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新媒体604条线索，订单7单，开票5台；订单/线索为1.2%</a:t>
            </a:r>
          </a:p>
        </p:txBody>
      </p:sp>
    </p:spTree>
    <p:extLst>
      <p:ext uri="{BB962C8B-B14F-4D97-AF65-F5344CB8AC3E}">
        <p14:creationId xmlns:p14="http://schemas.microsoft.com/office/powerpoint/2010/main" val="900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860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133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首次与多次进店转化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E9333B4E-2A1B-4F9A-B744-F4CF1B99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08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782A529F-2622-475F-9A0C-366E02DE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首次进店减少，多次邀约订单增加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672465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1238250"/>
                <a:gridCol w="1238250"/>
                <a:gridCol w="1809750"/>
              </a:tblGrid>
              <a:tr h="442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经营指标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8月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9月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变化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新增线索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3,185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2,696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-15.4%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首次进店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459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398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-13.3%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首次订单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-21.1%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首次成交率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15.1%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-1.5个百分点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多次邀约进店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+39.7%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多次订单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+66.7%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多次成交率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44.1%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52.6%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+8.5个百分点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4D312CB7-19F1-4BF9-96CB-38C726A3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14625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多次邀约订单占比45.5%
8月为27.8%，提升17.7个百分点</a:t>
            </a:r>
          </a:p>
        </p:txBody>
      </p:sp>
    </p:spTree>
    <p:extLst>
      <p:ext uri="{BB962C8B-B14F-4D97-AF65-F5344CB8AC3E}">
        <p14:creationId xmlns:p14="http://schemas.microsoft.com/office/powerpoint/2010/main" val="900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860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133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利润构成与收益质量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C2D519C8-F947-4E34-A99F-1F36E840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09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EEC3D4DC-D190-4D5D-AD81-B434F37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利润50.95万元，金融返佣与厂家折让贡献较大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4A62AD33-B8E0-413D-B588-24A5A10A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47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收入合计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488A7F73-C46E-4283-9A84-D2EB5AF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24075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64.2193万元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69133D1B-4135-4EF4-81D5-1E4CE706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按销售利润表营收项汇总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B9FFDC58-2D0F-4E94-A67E-669B53A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47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支出合计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F82105A4-1C99-4421-A88E-1226B622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24075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rPr>
              <a:t>13.2713万元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5601DD2D-411C-484F-A382-0850025C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289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收入减支出 = 50.948万元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FE1F0628-C830-4E5C-BB35-51342D54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47850"/>
            <a:ext cx="3171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距同销量毛利目标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6874B8F4-FBF8-4644-B1EF-72946AE8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24075"/>
            <a:ext cx="3171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7,520元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83D887FC-E148-47F8-A29D-DEB92255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28900"/>
            <a:ext cx="3171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94台 ×（5,500−5,420）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80D0C7BD-B73A-4D0A-86F3-9731FA59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收入构成（万元）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90550" y="3505200"/>
          <a:ext xmlns:a="http://schemas.openxmlformats.org/drawingml/2006/main" cx="6286500" cy="2171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d6ef92bb974de9"/>
          </a:graphicData>
        </a:graphic>
      </p:graphicFrame>
      <p:sp>
        <p:nvSpPr>
          <p:cNvPr id="18" name="txt-16">
            <a:extLst xmlns:a="http://schemas.openxmlformats.org/drawingml/2006/main">
              <a:ext uri="{FF2B5EF4-FFF2-40B4-BE49-F238E27FC236}">
                <a16:creationId xmlns:a16="http://schemas.microsoft.com/office/drawing/2014/main" id="{4501F71A-B45F-42AA-917C-D71E6076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413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收益质量关注</a:t>
            </a:r>
          </a:p>
        </p:txBody>
      </p:sp>
      <p:sp>
        <p:nvSpPr>
          <p:cNvPr id="19" name="txt-17">
            <a:extLst xmlns:a="http://schemas.openxmlformats.org/drawingml/2006/main">
              <a:ext uri="{FF2B5EF4-FFF2-40B4-BE49-F238E27FC236}">
                <a16:creationId xmlns:a16="http://schemas.microsoft.com/office/drawing/2014/main" id="{95AFB882-BAC3-41A3-91B4-2EE7D81F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413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金融返佣与厂家折让合计30.95万元，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占收入48.2%</a:t>
            </a:r>
          </a:p>
        </p:txBody>
      </p:sp>
      <p:sp>
        <p:nvSpPr>
          <p:cNvPr id="20" name="txt-18">
            <a:extLst xmlns:a="http://schemas.openxmlformats.org/drawingml/2006/main">
              <a:ext uri="{FF2B5EF4-FFF2-40B4-BE49-F238E27FC236}">
                <a16:creationId xmlns:a16="http://schemas.microsoft.com/office/drawing/2014/main" id="{24213C03-ACCA-423C-8870-B76C11C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7672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单车精品扣减较高的销售</a:t>
            </a:r>
          </a:p>
        </p:txBody>
      </p:sp>
      <p:sp>
        <p:nvSpPr>
          <p:cNvPr id="21" name="txt-19">
            <a:extLst xmlns:a="http://schemas.openxmlformats.org/drawingml/2006/main">
              <a:ext uri="{FF2B5EF4-FFF2-40B4-BE49-F238E27FC236}">
                <a16:creationId xmlns:a16="http://schemas.microsoft.com/office/drawing/2014/main" id="{53D00CB8-4D38-4237-A3D0-B3D9D22F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0"/>
            <a:ext cx="4133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李想 882.63元/台（7,061÷8）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付世雄 764.20元/台（7,642÷10）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张恒超 704.38元/台（5,635÷8）</a:t>
            </a:r>
          </a:p>
        </p:txBody>
      </p:sp>
    </p:spTree>
    <p:extLst>
      <p:ext uri="{BB962C8B-B14F-4D97-AF65-F5344CB8AC3E}">
        <p14:creationId xmlns:p14="http://schemas.microsoft.com/office/powerpoint/2010/main" val="900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860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133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车型结构与盈利表现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3599BD54-CC35-4513-8E0F-530F8C9A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10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E60916F2-9FA5-4E91-896E-9BC56004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17款车型共94台，大唐EV贡献53.9%毛利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52959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71500"/>
                <a:gridCol w="1219200"/>
                <a:gridCol w="1219200"/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车型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台数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毛利（元）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单车（元）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2026款夏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3,865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3,865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秦MAX EV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38,030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6,338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汉EV智驾版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1,089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1,089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第二代秦PLUS EV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19,137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1,914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秦MAX DM-i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6,799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3,400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元UP智驾版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12,062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2,010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秦L EV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5,635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1,878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汉L DM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-15,069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-15,069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大唐EV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274,481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14,446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210300" y="1924050"/>
          <a:ext xmlns:a="http://schemas.openxmlformats.org/drawingml/2006/main" cx="52959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71500"/>
                <a:gridCol w="1219200"/>
                <a:gridCol w="1219200"/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车型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台数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毛利（元）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单车（元）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第三代元PLUS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47,039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7,840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宋Pro DM-i飞驰版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11,641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1,293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2026款秦L DM-i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-4,116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-823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2026款秦PLUS DM-i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3,034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3,034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2026款宋L DM-i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-10,117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-3,372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宋Ultra EV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63,060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7,007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宋Ultra DM-i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31,784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6,357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2027款元UP飞驰版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21,127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3,018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全店合计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509,480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5,420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46C40E19-4475-49D5-B515-1CE64DE9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3款亏损车型共9台，合计亏损29,302元；除大唐EV外，75台单车毛利3,133元</a:t>
            </a:r>
          </a:p>
        </p:txBody>
      </p:sp>
    </p:spTree>
    <p:extLst>
      <p:ext uri="{BB962C8B-B14F-4D97-AF65-F5344CB8AC3E}">
        <p14:creationId xmlns:p14="http://schemas.microsoft.com/office/powerpoint/2010/main" val="9000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18288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16764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团队业绩与效率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027FE35B-3698-4AD1-B560-4781BDA5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11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0D074F59-93DB-4226-A94E-B11B50CC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两组利润接近，个人产出差异较大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85800" y="1943100"/>
          <a:ext xmlns:a="http://schemas.openxmlformats.org/drawingml/2006/main" cx="1082040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190750"/>
                <a:gridCol w="3124200"/>
                <a:gridCol w="3124200"/>
              </a:tblGrid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分组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核算销量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总毛利（元）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单车毛利（元）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罗佳组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257,436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5,363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刘柱组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252,044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5,479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509,480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5,420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57225" y="4305300"/>
          <a:ext xmlns:a="http://schemas.openxmlformats.org/drawingml/2006/main" cx="10820400" cy="1971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95e97f67d04823"/>
          </a:graphicData>
        </a:graphic>
      </p:graphicFrame>
      <p:sp>
        <p:nvSpPr>
          <p:cNvPr id="11" name="txt-7">
            <a:extLst xmlns:a="http://schemas.openxmlformats.org/drawingml/2006/main">
              <a:ext uri="{FF2B5EF4-FFF2-40B4-BE49-F238E27FC236}">
                <a16:creationId xmlns:a16="http://schemas.microsoft.com/office/drawing/2014/main" id="{16B3CF3B-9257-49AD-A38F-CCDAE7D2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95700"/>
            <a:ext cx="10744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3人单车毛利高于7,000元：吴洁8,019元、付世雄7,264元、李磊7,177元</a:t>
            </a:r>
          </a:p>
        </p:txBody>
      </p:sp>
      <p:sp>
        <p:nvSpPr>
          <p:cNvPr id="12" name="txt-8">
            <a:extLst xmlns:a="http://schemas.openxmlformats.org/drawingml/2006/main">
              <a:ext uri="{FF2B5EF4-FFF2-40B4-BE49-F238E27FC236}">
                <a16:creationId xmlns:a16="http://schemas.microsoft.com/office/drawing/2014/main" id="{83209484-7AB4-402F-BEAF-C47005B8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478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团队均值：9.4台/人、50,948元/人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D5A13-6036-4D34-8FD9-77A4C673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290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个人毛利（元）：标签为总毛利 / 单车毛利，柱高表示单车毛利</a:t>
            </a:r>
          </a:p>
        </p:txBody>
      </p:sp>
    </p:spTree>
    <p:extLst>
      <p:ext uri="{BB962C8B-B14F-4D97-AF65-F5344CB8AC3E}">
        <p14:creationId xmlns:p14="http://schemas.microsoft.com/office/powerpoint/2010/main" val="9000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19716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18192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9月接待总体表现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F90AE07-8D76-4CFC-BA05-5A2D92DD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12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229645D2-AAC5-4B82-B5EC-69C827D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9月接待均分73.16分，比8月下降3.28分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7124D252-856F-42B0-8EC3-AD2269BB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9月纳入记录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B235BEC8-C316-40C9-89E8-5DF92F94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35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165条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66E8F9B5-F7F6-4D0F-874B-E96F570F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合计12,071分，按记录条数加权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7392CAEA-070A-4BDD-AAAC-34B2F81B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76425"/>
            <a:ext cx="3514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低于60分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C435BF9C-82F1-49F0-9A32-5FFF2AA5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52650"/>
            <a:ext cx="3514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31条 / 18.8%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3A32D19A-9272-45A9-82CE-ECAB2CED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57475"/>
            <a:ext cx="3514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8月13条 / 10.9%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99D55E70-4210-433A-B73C-8DBA4C95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76425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80分及以上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54571582-7807-43FB-BF15-3933419E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52650"/>
            <a:ext cx="309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72条 / 43.6%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C69375D1-90DA-458A-96AA-0E858CD3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57475"/>
            <a:ext cx="309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8月61条 / 51.3%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8D33AD47-6038-4C33-973B-247AAAB1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接待得分分布（占当月记录比例）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28650" y="3629025"/>
          <a:ext xmlns:a="http://schemas.openxmlformats.org/drawingml/2006/main" cx="6715125" cy="2276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a0cd87396e4ed0"/>
          </a:graphicData>
        </a:graphic>
      </p:graphicFrame>
      <p:sp>
        <p:nvSpPr>
          <p:cNvPr id="18" name="txt-16">
            <a:extLst xmlns:a="http://schemas.openxmlformats.org/drawingml/2006/main">
              <a:ext uri="{FF2B5EF4-FFF2-40B4-BE49-F238E27FC236}">
                <a16:creationId xmlns:a16="http://schemas.microsoft.com/office/drawing/2014/main" id="{B637D189-D843-4BC3-B028-9A385686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38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90分及以上由18条减至7条。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占比由15.1%降至4.2%</a:t>
            </a:r>
          </a:p>
        </p:txBody>
      </p:sp>
      <p:sp>
        <p:nvSpPr>
          <p:cNvPr id="19" name="txt-17">
            <a:extLst xmlns:a="http://schemas.openxmlformats.org/drawingml/2006/main">
              <a:ext uri="{FF2B5EF4-FFF2-40B4-BE49-F238E27FC236}">
                <a16:creationId xmlns:a16="http://schemas.microsoft.com/office/drawing/2014/main" id="{86B2E7EF-4E5D-4616-A062-2016B532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95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9月接待共性问题</a:t>
            </a:r>
          </a:p>
        </p:txBody>
      </p:sp>
      <p:sp>
        <p:nvSpPr>
          <p:cNvPr id="20" name="txt-18">
            <a:extLst xmlns:a="http://schemas.openxmlformats.org/drawingml/2006/main">
              <a:ext uri="{FF2B5EF4-FFF2-40B4-BE49-F238E27FC236}">
                <a16:creationId xmlns:a16="http://schemas.microsoft.com/office/drawing/2014/main" id="{775F9C7C-4A7C-4EFE-AED5-8AE9921A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6727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试驾推进不足，邀约后未落实体验</a:t>
            </a:r>
          </a:p>
        </p:txBody>
      </p:sp>
      <p:sp>
        <p:nvSpPr>
          <p:cNvPr id="21" name="txt-19">
            <a:extLst xmlns:a="http://schemas.openxmlformats.org/drawingml/2006/main">
              <a:ext uri="{FF2B5EF4-FFF2-40B4-BE49-F238E27FC236}">
                <a16:creationId xmlns:a16="http://schemas.microsoft.com/office/drawing/2014/main" id="{F0FE6018-0431-43E5-90B9-173576B5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197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赠品说明笼统，报价要素不完整</a:t>
            </a:r>
          </a:p>
        </p:txBody>
      </p:sp>
      <p:sp>
        <p:nvSpPr>
          <p:cNvPr id="22" name="txt-20">
            <a:extLst xmlns:a="http://schemas.openxmlformats.org/drawingml/2006/main">
              <a:ext uri="{FF2B5EF4-FFF2-40B4-BE49-F238E27FC236}">
                <a16:creationId xmlns:a16="http://schemas.microsoft.com/office/drawing/2014/main" id="{4AEBF124-C6CA-4FFE-A24F-BD9E778E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721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补贴、返息与车价混说</a:t>
            </a:r>
          </a:p>
        </p:txBody>
      </p:sp>
      <p:sp>
        <p:nvSpPr>
          <p:cNvPr id="23" name="txt-21">
            <a:extLst xmlns:a="http://schemas.openxmlformats.org/drawingml/2006/main">
              <a:ext uri="{FF2B5EF4-FFF2-40B4-BE49-F238E27FC236}">
                <a16:creationId xmlns:a16="http://schemas.microsoft.com/office/drawing/2014/main" id="{FB5C977E-1636-4A8E-9ED5-D9C00D17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1071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8月档案从12日起，共119条；9月165条。按出分月统计</a:t>
            </a:r>
          </a:p>
        </p:txBody>
      </p:sp>
    </p:spTree>
    <p:extLst>
      <p:ext uri="{BB962C8B-B14F-4D97-AF65-F5344CB8AC3E}">
        <p14:creationId xmlns:p14="http://schemas.microsoft.com/office/powerpoint/2010/main" val="9000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19716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18192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9月接待个人对比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0BA2D122-5056-4A63-91C2-56543E99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13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A2EF3589-AB8C-452E-ACA0-ACFCF2D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3人均分上升，7人下降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524000"/>
                <a:gridCol w="1381125"/>
                <a:gridCol w="1524000"/>
                <a:gridCol w="1666875"/>
                <a:gridCol w="1524000"/>
                <a:gridCol w="1524000"/>
              </a:tblGrid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销售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8月均分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9月条数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9月均分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变化（分）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≥80分条数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&lt;70分条数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张德民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69.33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69.64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付世雄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74.03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72.19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-1.84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李想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76.60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76.74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+0.14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李磊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77.72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69.71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-8.01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陈一兴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85.38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82.48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-2.90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张婷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63.00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66.23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+3.23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张恒超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80.57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-8.57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徐阳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75.43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73.38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-2.04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吴洁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75.96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72.55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-3.42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李增强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77.82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70.00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-7.82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95B89F88-529B-4297-90C5-59DF387D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69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陈一兴均分82.48分最高；张婷、李增强合计13条低于60分</a:t>
            </a:r>
          </a:p>
        </p:txBody>
      </p:sp>
    </p:spTree>
    <p:extLst>
      <p:ext uri="{BB962C8B-B14F-4D97-AF65-F5344CB8AC3E}">
        <p14:creationId xmlns:p14="http://schemas.microsoft.com/office/powerpoint/2010/main" val="9000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13716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12192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金融与保险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9FCECA20-B8B1-4CA8-9A4A-88B43262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14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84E68D19-4CE0-4657-9223-EC795F52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分期50单，核算销量渗透率53.2%；新保90单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1971675"/>
          <a:ext xmlns:a="http://schemas.openxmlformats.org/drawingml/2006/main" cx="6696075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0325"/>
                <a:gridCol w="1190625"/>
                <a:gridCol w="1190625"/>
                <a:gridCol w="1714500"/>
              </a:tblGrid>
              <a:tr h="428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金融指标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8月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9月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变化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厂家金融数量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商业银行数量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+16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总金融数量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厂家金融渗透率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41.5%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21.3%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-20.2个百分点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商业银行渗透率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14.9%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31.9%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+17.0个百分点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总金融渗透率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56.4%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53.2%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-3.2个百分点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348B930C-9A58-4D1E-89E7-DF6F1C95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本月新保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A0CD2073-00A3-4BEB-BAF1-BDAD902C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71725"/>
            <a:ext cx="347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90单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3A3E3035-BABC-4432-A993-30C44F4F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保费477,324.89元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0071F6C5-AC11-4523-B3D6-590F14C0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76625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单均保费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A0F8341E-1F9B-441B-BF34-E0832249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52850"/>
            <a:ext cx="347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rPr>
              <a:t>5,303.61元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6CB0A67E-6202-48A5-AF1A-2C8CDE5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576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保费÷90单，不等于保险收益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DF92703F-9F1B-410A-BB60-6E97E70C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81625"/>
            <a:ext cx="10725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未店保5名客户，原因均为“二网”。保险90单、未店保5名，与开票96台差1台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A2447-EF03-4B82-9DD0-266548A9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67300"/>
            <a:ext cx="676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9月金融渗透率按毛利表核算销量94台计算</a:t>
            </a:r>
          </a:p>
        </p:txBody>
      </p:sp>
    </p:spTree>
    <p:extLst>
      <p:ext uri="{BB962C8B-B14F-4D97-AF65-F5344CB8AC3E}">
        <p14:creationId xmlns:p14="http://schemas.microsoft.com/office/powerpoint/2010/main" val="9000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16002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14478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延保数据分析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3AA7F82E-0673-44C5-9BE4-C7773AA4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15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10D8DA07-164D-4BFC-881B-4469CDE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延保成交22单，核算销量渗透率23.4%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F997A8CB-B843-4A5E-BAB7-E3E50704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有效对接率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057A62A6-F6BE-44AA-AADF-A7DEB6AF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73.1%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4C2A7E62-C407-4995-B5D2-AA2D97F1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57 / 78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3F1BD086-FD7F-41C9-91F3-1876450E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对接后成交率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B3E734DC-1DCE-4A18-951E-A05C7401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rPr>
              <a:t>38.6%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B3B2483E-2110-4010-A5F1-750BD0AD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22 / 57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F3C63D18-689E-4CFA-A123-F35B7E1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19275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核算销量渗透率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5F95C932-941E-432B-9F1D-0E0AE7FC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20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23.4%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81C4A639-6955-4B9A-AF53-353ACABB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03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成交22 / 核算销量94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85800" y="3409950"/>
          <a:ext xmlns:a="http://schemas.openxmlformats.org/drawingml/2006/main" cx="108204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524000"/>
                <a:gridCol w="1809750"/>
                <a:gridCol w="1428750"/>
                <a:gridCol w="1981200"/>
                <a:gridCol w="1981200"/>
              </a:tblGrid>
              <a:tr h="4643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组别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转介绍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有效对接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成交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对接率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成交/有效</a:t>
                      </a:r>
                    </a:p>
                  </a:txBody>
                  <a:tcPr marL="95250" marR="95250" marT="57150" marB="57150" anchor="ctr">
                    <a:solidFill>
                      <a:srgbClr val="C00000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刘柱组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73.7%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46.4%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罗佳组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72.5%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31.0%</a:t>
                      </a:r>
                    </a:p>
                  </a:txBody>
                  <a:tcPr marL="95250" marR="95250" marT="57150" marB="57150" anchor="ctr">
                    <a:solidFill>
                      <a:srgbClr val="F6F7F8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73.1%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5252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38.6%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xt-15">
            <a:extLst xmlns:a="http://schemas.openxmlformats.org/drawingml/2006/main">
              <a:ext uri="{FF2B5EF4-FFF2-40B4-BE49-F238E27FC236}">
                <a16:creationId xmlns:a16="http://schemas.microsoft.com/office/drawing/2014/main" id="{C2240BD1-7D1C-42AF-99E6-B248AA50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转介绍后未有效对接21次；有效对接后未成交35次</a:t>
            </a:r>
          </a:p>
        </p:txBody>
      </p:sp>
    </p:spTree>
    <p:extLst>
      <p:ext uri="{BB962C8B-B14F-4D97-AF65-F5344CB8AC3E}">
        <p14:creationId xmlns:p14="http://schemas.microsoft.com/office/powerpoint/2010/main" val="9000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16002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14478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无忧产品转化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CEC82400-5C81-47DF-8E05-CC195155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16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1A954C2B-C251-4EAF-8D69-6AF63D2D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无忧成交31单，核算销量渗透率33.0%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A9413217-C89B-4E07-AFE6-8909BCE4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推荐覆盖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88199306-97BE-4520-8E62-E7C1F847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78.7%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AA23FAAF-5CFE-45A0-8F4E-0B5A4B30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推荐74 / 核算销量94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C14E9E33-3897-4777-8AB4-761E363D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383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推荐后成交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F7885738-125D-4195-9ADE-117570FF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507CA3"/>
                </a:solidFill>
                <a:latin typeface="微软雅黑"/>
                <a:ea typeface="微软雅黑"/>
                <a:cs typeface="微软雅黑"/>
              </a:rPr>
              <a:t>41.9%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4C948AD3-0ECB-4C22-8A8E-58C9ED3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193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成交31 / 推荐74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83D6EA62-9C0E-409F-94E3-32780F2E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383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核算销量渗透率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AB4B91EC-C13D-41CD-B86B-85EF375E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145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33.0%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8931F1A4-A7F7-4744-89EB-524C2E4C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193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成交31 / 核算销量94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7DE47D93-3954-40A2-A0F9-3DF0730C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614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成交产品分布（单）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666750" y="3438525"/>
          <a:ext xmlns:a="http://schemas.openxmlformats.org/drawingml/2006/main" cx="61531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53b2421bea46aa"/>
          </a:graphicData>
        </a:graphic>
      </p:graphicFrame>
      <p:sp>
        <p:nvSpPr>
          <p:cNvPr id="18" name="txt-16">
            <a:extLst xmlns:a="http://schemas.openxmlformats.org/drawingml/2006/main">
              <a:ext uri="{FF2B5EF4-FFF2-40B4-BE49-F238E27FC236}">
                <a16:creationId xmlns:a16="http://schemas.microsoft.com/office/drawing/2014/main" id="{628519D2-8F81-4CAF-8BE9-6402D6AF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24225"/>
            <a:ext cx="4124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推荐与成交差额</a:t>
            </a:r>
          </a:p>
        </p:txBody>
      </p:sp>
      <p:sp>
        <p:nvSpPr>
          <p:cNvPr id="19" name="txt-17">
            <a:extLst xmlns:a="http://schemas.openxmlformats.org/drawingml/2006/main">
              <a:ext uri="{FF2B5EF4-FFF2-40B4-BE49-F238E27FC236}">
                <a16:creationId xmlns:a16="http://schemas.microsoft.com/office/drawing/2014/main" id="{09726B15-07A3-490A-994D-5BA34BD0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41243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推荐74次，较核算销量94台少20次</a:t>
            </a:r>
          </a:p>
        </p:txBody>
      </p:sp>
      <p:sp>
        <p:nvSpPr>
          <p:cNvPr id="20" name="txt-18">
            <a:extLst xmlns:a="http://schemas.openxmlformats.org/drawingml/2006/main">
              <a:ext uri="{FF2B5EF4-FFF2-40B4-BE49-F238E27FC236}">
                <a16:creationId xmlns:a16="http://schemas.microsoft.com/office/drawing/2014/main" id="{C423E3E3-6274-4A06-B7F6-00879AF9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41243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推荐74次，成交31单，相差43次</a:t>
            </a:r>
          </a:p>
        </p:txBody>
      </p:sp>
    </p:spTree>
    <p:extLst>
      <p:ext uri="{BB962C8B-B14F-4D97-AF65-F5344CB8AC3E}">
        <p14:creationId xmlns:p14="http://schemas.microsoft.com/office/powerpoint/2010/main" val="90002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4288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276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张德民｜9月个人复盘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503F7FE4-3E1B-49F8-978A-EE37DB8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17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6F57A0E9-7D2A-41DD-BB70-7612644F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EDF627EA-37F0-428F-8266-C5CDB7EB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10台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4B3F942E-E089-43E6-8F2F-FF8E6120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团队均值9.4台，高0.6台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94DAEA5E-6C3E-468C-9212-4DE5A5D6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938123C7-00A3-4A1B-8153-9E815C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53,311元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8800375F-3F04-48ED-B078-84DEA946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差额+2,363元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4C3038CC-406A-433D-8E7B-FE6A58AE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BBD1042E-EABF-43D8-8206-66B0537B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5,331元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C1DAC036-DDFA-4100-B526-564693AA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较团队均值-89元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BF3A64ED-2B20-4A9E-8915-E997CBA7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19FCB9B6-C299-45B9-B1AC-9EC8143C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−169元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72C5E65F-5B48-4D06-BD6D-B11B024C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低于目标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F54EC17A-8E38-4EDB-9A09-071FA67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2EB93129-FA20-4836-A3D9-628BE8C4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69.64分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C3602D68-2169-4B89-A02A-BA802F38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11条记录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89388D11-02CA-4FA9-893B-592E9431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8月均分69.33分，本月+0.30分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BEA93FB1-9FA3-4B63-946C-1C7B82FE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2/11条，占18.2%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CF9955F0-51F4-4421-AD31-E1411F91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3/11条，占27.3%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C0830034-3953-478E-AEE0-EF6944F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1条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38380A56-E3B7-4CEF-B993-D3ECE2CB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本月分数范围：54至86分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175DACDC-AB41-4367-956D-3296ED86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延保　渗透率 10.0%（并列第9名）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C69F4855-37A2-43C7-AAE8-1C532525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转介绍7，有效对接3，对接率42.9%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6047CFDF-C2A8-4A8C-981D-E6F832AD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成交1单 / 核算销量10台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C9FB9633-90C8-429F-8F0C-AD173D0F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无忧　渗透率 20.0%（并列第8名）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8C99395A-6BC8-43E6-99FB-C939F458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推荐8次，推荐率80.0%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8C652B2C-77C7-4911-B77E-791E79E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成交2单 / 核算销量10台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C9BD0EC8-46A7-4779-A580-4DE958F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商业银行　渗透率 20.0%（并列第7名）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E54AE1CA-715A-4C67-836F-1BD09F33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银行2单 / 核算销量10台</a:t>
            </a:r>
          </a:p>
        </p:txBody>
      </p:sp>
    </p:spTree>
    <p:extLst>
      <p:ext uri="{BB962C8B-B14F-4D97-AF65-F5344CB8AC3E}">
        <p14:creationId xmlns:p14="http://schemas.microsoft.com/office/powerpoint/2010/main" val="90001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4288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276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付世雄｜9月个人复盘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74733978-7B34-4C42-BF09-EA4D7D39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18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AC18517C-2078-4514-AF29-C812304A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32359FFE-DE28-470D-9C46-AB819ABD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10台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5C217E22-63E8-4BFE-A331-920DFA5F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团队均值9.4台，高0.6台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71B4D33C-63B9-4D45-804C-2F6E7C6F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ADC5FC4C-AA35-4344-B71E-F192CA25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72,638元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587FAA21-A206-4F61-A716-3E763696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差额+21,690元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528F3ECF-11D0-4AFE-8EFC-79E03E54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B12AAD4E-8C17-4199-B1C5-577B0B34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7,264元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E8E1F63A-0D30-40C5-9268-6837072C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较团队均值+1,844元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0ED94499-DE94-4BC6-9AD1-548C6111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690DCF10-B0F4-4722-97D2-9CFAA81C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+1,764元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076508BA-2B05-493C-96AA-D82F0475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超过目标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93074082-769E-4309-B850-D4F916CD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30C2B957-50C2-4674-8EA5-C3FA628F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72.19分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FDF13A50-812D-46D2-8893-91C55D5C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16条记录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E7157AC9-3A9A-4854-A740-1540E2B3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8月均分74.03分，本月-1.84分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106D10B2-F924-46CC-8908-2E3BF585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5/16条，占31.3%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BF9BAA84-7B93-4359-8A7B-F8E3DE2E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1/16条，占6.3%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8BF0ECC9-8758-4ABE-A215-0148C383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1条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B6C68137-B18E-4499-BB2F-BAF0274B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本月分数范围：55至89分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D4A3B324-EA70-4AC8-A456-4E90CA9F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延保　渗透率 10.0%（并列第9名）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CCD5BE00-EB63-4EF1-98DA-6CE7B85B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转介绍9，有效对接5，对接率55.6%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75052C93-C1EF-438C-A159-AB3E1B99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成交1单 / 核算销量10台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AB2D070F-FEC3-40E7-83D9-06207C50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无忧　渗透率 20.0%（并列第8名）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D84B6F0C-D0B6-4DDE-ACEC-B4AEB1B3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推荐7次，推荐率70.0%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2B6722DB-4673-436F-8DD5-45627699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成交2单 / 核算销量10台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9A02E6EE-922F-48F8-9425-09F71C4F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商业银行　渗透率 40.0%（并列第2名）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7DA9FD5B-F900-4E27-A68C-31A8A220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银行4单 / 核算销量10台</a:t>
            </a:r>
          </a:p>
        </p:txBody>
      </p:sp>
    </p:spTree>
    <p:extLst>
      <p:ext uri="{BB962C8B-B14F-4D97-AF65-F5344CB8AC3E}">
        <p14:creationId xmlns:p14="http://schemas.microsoft.com/office/powerpoint/2010/main" val="90001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002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0478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李想｜9月个人复盘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5ACDC051-113F-401F-8D58-429B8E8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19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0A2145A5-6B34-439B-999E-78DE90B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E6385479-F73F-4220-A53F-87762094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8台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A26E9613-DDF8-4345-B27A-FF742E45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团队均值9.4台，低1.4台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E99E529F-358F-4964-932E-27D282D2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3D04565B-EF9E-4DEA-9DC2-0923E3F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39,104元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387C7047-7334-406A-8594-D3D925A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差额-11,844元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9AAE44A4-6DCD-45B3-B9BD-D26BF3C6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582EF076-94A4-452F-BD6D-5BE526CE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4,888元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B28FF8E7-91CF-4AF1-8DAE-80165D43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较团队均值-532元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E369BC04-7404-4673-8E7C-900D46A8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B70C315A-9C3F-4602-98E1-564F643F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−612元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61C92C41-5E4B-4126-8CFC-3F6A3331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低于目标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8D94F065-AD08-4259-B825-826A5F87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4A78445A-3B16-44B5-BDFA-93F2C72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76.74分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CD4E5E5C-9A7E-467D-BDB0-E288A153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19条记录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F2215346-451D-48E5-8C2A-9DE2AFF9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8月均分76.60分，本月+0.14分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917B42E0-334A-4F72-BA03-6CF6366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10/19条，占52.6%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140DBB91-BCE7-409C-940D-73224DD4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2/19条，占10.5%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DB6F5354-3EAC-45F7-B200-61B30CC7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5条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615E4181-64B2-4FFB-9FF9-FB3BBDDE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本月分数范围：50至91分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190A8479-9994-450B-8C71-7533BBB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延保　渗透率 37.5%（并列第2名）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E03F095B-8949-4417-9EEB-BC0522F9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转介绍8，有效对接8，对接率100.0%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D6E32EA0-BF8C-4FE6-9585-FD7A39C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成交3单 / 核算销量8台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7338E80D-B60E-4EC5-84DA-E72A3135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无忧　渗透率 25.0%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576BA5A3-F100-44E4-8529-F97F1CD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推荐8次，推荐率100.0%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A0B91EB0-7B83-49E0-A154-1C328682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成交2单 / 核算销量8台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0ADCE470-B0D5-40DE-8652-B90499DF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商业银行　渗透率 37.5%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9E0960BD-E880-4DD9-AD38-254B2FD5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银行3单 / 核算销量8台</a:t>
            </a:r>
          </a:p>
        </p:txBody>
      </p:sp>
    </p:spTree>
    <p:extLst>
      <p:ext uri="{BB962C8B-B14F-4D97-AF65-F5344CB8AC3E}">
        <p14:creationId xmlns:p14="http://schemas.microsoft.com/office/powerpoint/2010/main" val="90001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002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0478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李磊｜9月个人复盘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8C6604AE-75D8-4E4C-9738-0C211A66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20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E746E95E-8489-4210-975B-72F1D29B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D10089CA-B2C7-4A34-A758-309FDC41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10台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A6E0FCC7-7013-43F9-8893-DB384482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团队均值9.4台，高0.6台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90D537D4-2BDF-4FFC-BEA4-DC9BB072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A2479CB5-05A6-4493-A895-34BB4F93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71,767元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1B2E5743-27E5-4C51-98E3-C7BFEDB2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差额+20,819元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D7183A13-5B54-4E92-BE1B-0DBF4169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6D94B7C2-FD6E-4AD4-A3C2-5AFB7E77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7,177元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BEDF0B73-C7C8-433D-93D7-CE7E0467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较团队均值+1,757元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025F77FF-72F9-4B7C-8DE3-03F0EB6C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0F60AE4B-7C5D-467B-B3D8-C98852AA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+1,677元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2372C7B1-470F-4CAF-B09E-75383A6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超过目标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F8A13229-34F0-416A-9FB3-D7F2D033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F98E64B5-7E71-4DB6-8CE9-BB8D39AC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69.71分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E838F828-CA84-43C6-8D0A-9B84BB4C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17条记录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BBB50BB5-1EBD-46E7-9875-ECDE1EDF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8月均分77.72分，本月-8.01分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5264E3AF-7595-4896-AA8B-A72662E6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5/17条，占29.4%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7A5DB9BC-B877-4AD5-B7CC-354D21F5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3/17条，占17.6%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311CCF66-F08C-4168-8A13-D16C8C95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3条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B0A1D0B4-07EA-4EEA-8651-6997D165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本月分数范围：52至89分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0D7A2F22-3EC3-4911-9CE6-D09F87C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延保　渗透率 20.0%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1876AD78-EB94-44FE-8E20-6BD5A5EE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转介绍8，有效对接6，对接率75.0%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75AF8244-F6E6-483B-90CE-15F1BBE5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成交2单 / 核算销量10台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EAEB05C2-DCD8-40C3-9D6F-A3F57B0A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无忧　渗透率 50.0%（第2名）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4CB2C97E-9505-482C-BEC9-239EE14B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推荐8次，推荐率80.0%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65331CF6-FEE5-4529-B06A-A82BC919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成交5单 / 核算销量10台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31A86C02-8CF7-4D3E-968E-FCD05178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商业银行　渗透率 40.0%（并列第2名）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7FB4C096-24F1-4972-A731-61347726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银行4单 / 核算销量10台</a:t>
            </a:r>
          </a:p>
        </p:txBody>
      </p:sp>
    </p:spTree>
    <p:extLst>
      <p:ext uri="{BB962C8B-B14F-4D97-AF65-F5344CB8AC3E}">
        <p14:creationId xmlns:p14="http://schemas.microsoft.com/office/powerpoint/2010/main" val="90001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4288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276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陈一兴｜9月个人复盘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33EAB260-97D0-4AF8-84E6-AA493E91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21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729D3764-36F6-471E-9854-05AE9AC9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C660712C-C81F-4928-92A0-1C9CA4AA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10台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6F599925-DD5E-4CAA-AA7B-B50C3ED7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团队均值9.4台，高0.6台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1486DB04-E7D4-46DA-9574-A26EFCD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295D00AB-E152-4A1D-993D-22E3E38C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20,616元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9079176B-C924-4E40-8D0D-279BB451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差额-30,332元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4461AABD-E540-4436-B16A-E16CC45B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070E2CF3-1E46-414C-9C00-07C002CD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2,062元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79EDFA8D-3E4F-406E-B0E9-441109A4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较团队均值-3,358元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9E4F08F9-C80E-420F-B2E3-1611D626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FD93DD7B-6C25-4C4A-8D60-142ED036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−3,438元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DEE81DFE-A648-45E9-9971-948F3113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低于目标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09845DEB-6AAD-46DE-845E-B7EE0590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02D01448-9421-40AF-8E1D-113886CF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82.48分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0EB99133-83C5-4EC4-ACF7-FE8A59A8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25条记录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6A48BD48-72ED-4973-9532-6D03C89F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8月均分85.38分，本月-2.90分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AC21A53D-FC34-4694-BB89-1FDC97B2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20/25条，占80.0%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98C1A06A-1698-4E4E-A41D-B6805F8B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2/25条，占8.0%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A76E957D-A5B6-489A-9FDE-1A8160CC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14条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50DEAAC8-9E78-45C4-8DEB-DBBC9F5F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本月分数范围：48至97分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89FD2C08-8B5B-48E7-B48F-AE029E4A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延保　渗透率 20.0%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810A88BC-96C4-42D4-844C-98EE8167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转介绍8，有效对接7，对接率87.5%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E16EF272-8881-4EF3-A34B-8E3C91D4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成交2单 / 核算销量10台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5C0E109A-7A09-456E-A0F0-9C43AB9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无忧　渗透率 60.0%（第1名）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712E9ABA-9433-420E-9352-F17F218F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推荐9次，推荐率90.0%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3D8E066A-9229-456A-BFDF-D7312D37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成交6单 / 核算销量10台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D227E62D-B47E-4005-8655-097EE8B0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商业银行　渗透率 20.0%（并列第7名）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7ACECAA1-7694-4E80-A0CE-ED286DAC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银行2单 / 核算销量10台</a:t>
            </a:r>
          </a:p>
        </p:txBody>
      </p:sp>
    </p:spTree>
    <p:extLst>
      <p:ext uri="{BB962C8B-B14F-4D97-AF65-F5344CB8AC3E}">
        <p14:creationId xmlns:p14="http://schemas.microsoft.com/office/powerpoint/2010/main" val="90001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002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0478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张婷｜9月个人复盘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9BA71DFC-3F59-4FD3-BA56-4DCF9E5C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22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543616B7-7CAE-4220-877E-DE09F693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89AC23C9-38BB-415F-A288-6B6285E6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CDCA174E-1F70-4450-9A51-B949C5E7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团队均值9.4台，低4.4台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82259AFD-2DE3-455E-8CFA-4560DB29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8D53CA82-ED51-4C36-A8AC-00848541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14,465元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4388B7CA-8964-4997-9736-C23F43AC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差额-36,483元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15196A53-4B35-4F5D-9E26-BDC7B25A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CB6A7235-341A-4547-8EE2-F3423AFD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2,893元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5348E6C5-450B-4BA1-B6B0-99FE971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较团队均值-2,527元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17CB3CB1-7A95-4DC4-976C-D022F866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5C13D9C0-301D-4D49-B10F-795DB95D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−2,607元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FAD2121F-EE5D-43CD-81C4-FF280B20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低于目标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898127F4-9DDD-44DC-B746-29CE5EB2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9D025647-AC32-4F84-9FB6-888FE2DC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66.23分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2B53AA62-06AC-41A9-86C1-4E2ADE9E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13条记录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0B3064AF-AE1A-426B-91F8-86649577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8月均分63.00分，本月+3.23分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25590B5D-C14B-49C1-AEF9-199B3A4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3/13条，占23.1%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3E94CBF9-38C8-4550-8A8B-74E68AC5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6/13条，占46.2%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3145907D-57BF-4241-9681-2E72EF6C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1条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F0101250-A003-46BA-A214-C41732CC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本月分数范围：43至85分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9E28920C-C982-45C5-8F5E-9A732A8B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延保　渗透率 20.0%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160565B8-F1C1-4FC8-B043-DB77A07F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转介绍3，有效对接3，对接率100.0%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A4B9CD74-6642-4940-B0D4-5A6F0623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成交1单 / 核算销量5台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61017D59-8E65-4CCD-B426-5553EAA8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无忧　渗透率 0.0%（第10名）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7487C7D6-27A1-415F-8C11-879D2C66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推荐3次，推荐率60.0%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87220DAE-30E0-4D67-A3A9-5E4D5C10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成交0单 / 核算销量5台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FD96756B-1E74-4B71-BAE8-6C3EB504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商业银行　渗透率 20.0%（并列第7名）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79748F19-DAFF-4C2E-A9A8-D07089B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银行1单 / 核算销量5台</a:t>
            </a:r>
          </a:p>
        </p:txBody>
      </p:sp>
    </p:spTree>
    <p:extLst>
      <p:ext uri="{BB962C8B-B14F-4D97-AF65-F5344CB8AC3E}">
        <p14:creationId xmlns:p14="http://schemas.microsoft.com/office/powerpoint/2010/main" val="90001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4288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276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张恒超｜9月个人复盘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BBC9A145-D364-464A-9122-35D4AF34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23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685CECA4-0615-4E03-9101-E5F90E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4AF6BA83-C02F-42C4-AB02-E411F525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8台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BE10BF00-8EE7-478E-8E5C-F34F247A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团队均值9.4台，低1.4台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39AE42CB-EF03-4A3F-A647-2245078E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5EFA41CC-5112-4F7A-8665-4D08ADF0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34,685元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73377680-CA69-4E73-A76F-A846B5C6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差额-16,263元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F3A942BC-3DC1-4AEB-9906-9A7CDA93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ED89C0DB-668F-47D7-807A-2599EB45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4,336元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2EC05BB6-3209-4E3D-967E-79DA75BF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较团队均值-1,084元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ED8AFE40-12F0-4392-8B3F-3523B4D3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5F3BCD76-3D4C-4B74-AFFF-B9C7ED6C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−1,164元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FD1DEA1B-99AA-4571-95BB-972E1B5B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低于目标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35C52B7C-46C1-4F98-95C5-FCDF27A6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5FA406C4-CC5E-4A38-9851-C48075E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72.00分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5AD17BA2-28D6-4F70-8C4A-84AFF26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16条记录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C11E5547-A946-416B-88ED-92D19584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8月均分80.57分，本月-8.57分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7ADC0CC7-2DC1-4448-9FFF-96FED6F5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8/16条，占50.0%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CFE8E225-1DBD-4FD0-9C7D-745AB769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3/16条，占18.8%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8B34D12B-7C3B-47B6-A66B-77B36EF5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3条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6E318945-6EEE-4DF2-9D32-FCAA1C7D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本月分数范围：44至88分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C48FBBDA-9903-4EBA-A618-67958771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延保　渗透率 37.5%（并列第2名）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FBA24BA6-51C0-4B32-82BA-A121B8F2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转介绍8，有效对接5，对接率62.5%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C01C5587-ABAF-4331-AC48-EFC93E8E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成交3单 / 核算销量8台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0B91EED4-D082-4709-A0E4-95BDBBB4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无忧　渗透率 25.0%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995D7461-7C12-4E28-99C3-37177352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推荐5次，推荐率62.5%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14DE24DD-BA5D-4793-8815-326547D5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成交2单 / 核算销量8台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29214136-A0D3-4631-B34A-91AEC05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商业银行　渗透率 37.5%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9ACA250E-D61D-4B72-BB62-2FFEEB1E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银行3单 / 核算销量8台</a:t>
            </a:r>
          </a:p>
        </p:txBody>
      </p:sp>
    </p:spTree>
    <p:extLst>
      <p:ext uri="{BB962C8B-B14F-4D97-AF65-F5344CB8AC3E}">
        <p14:creationId xmlns:p14="http://schemas.microsoft.com/office/powerpoint/2010/main" val="90001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002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0478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徐阳｜9月个人复盘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C646A3BC-A8CC-4EF1-B628-6A5126EF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24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EC102C32-3279-4911-A1CD-3134B762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5E538DA0-9ECF-4589-8C43-B053EA05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11台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E3314C96-29E3-402C-8BA0-02492E33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团队均值9.4台，高1.6台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9615D231-7F23-4A76-81E1-469B27EF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F3C15962-BB2D-4C91-97D6-1711BDB7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50,378元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A3111FA6-52B8-448F-AB1D-C0D0A66C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差额-570元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73B36376-7836-4D24-BFBD-5D32C140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4A11193C-5A32-4072-9FA9-B516B80E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4,580元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5D0B73E6-F926-4687-B885-12B4659F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较团队均值-840元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F79EC4AD-C644-4FFA-ACB0-BC9FD2EB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9EBA363A-6618-4908-BE80-53E4A2C5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−920元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65CE95E4-BEA0-4DCF-AFC2-C94CF55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低于目标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83EFCC00-8A64-45BC-9371-3B0DAA3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C63143A7-9D57-4B51-861C-E6A85301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73.38分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EC5DC429-0645-47A4-9AD7-AF5412AA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13条记录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BF5B4D34-2602-4FF0-9415-F4562C74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8月均分75.43分，本月-2.04分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F9B4ACE7-F340-487F-B8D2-3B0CC1A8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5/13条，占38.5%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ED196A09-8541-4EAA-A025-2A9BF5D4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2/13条，占15.4%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4B4D122C-FFF0-4E0A-8EF6-7DC823C6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0条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28B05BCC-25D2-4444-B47B-81640C68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本月分数范围：44至83分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0CD17531-45E3-4B51-814F-AD37741B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延保　渗透率 18.2%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176FB861-3C20-488A-9E72-67DFDD50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转介绍9，有效对接6，对接率66.7%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AD2B4137-1475-4CDB-BCAE-29D09C8D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成交2单 / 核算销量11台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BBA317E7-965B-43D7-AA02-FEB62841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无忧　渗透率 36.4%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29021816-E666-4194-AAD6-6E3C7C9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推荐8次，推荐率72.7%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CC2F0E63-9D79-491D-B35D-279BE153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成交4单 / 核算销量11台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1079E8D3-94AF-4E76-8878-C2B12751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商业银行　渗透率 54.5%（第1名）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7AD0FBB5-4578-4FBD-B2A5-29E3CFB9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银行6单 / 核算销量11台</a:t>
            </a:r>
          </a:p>
        </p:txBody>
      </p:sp>
    </p:spTree>
    <p:extLst>
      <p:ext uri="{BB962C8B-B14F-4D97-AF65-F5344CB8AC3E}">
        <p14:creationId xmlns:p14="http://schemas.microsoft.com/office/powerpoint/2010/main" val="90001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2002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0478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吴洁｜9月个人复盘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67281B7C-7175-4984-AAA8-4A5E4796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25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1DFEE309-8A5E-4107-B8CB-5E638E59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50560F9F-5B68-44E6-9C39-0AD2B7D3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15台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C08B2423-165B-4C7E-8F67-EA81E55A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团队均值9.4台，高5.6台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62F0FD9E-225F-450A-9E59-6E2FB547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9724A40A-3A4C-4B63-98E7-CA413247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120,286元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A9993FA7-001B-445F-B9FD-46DEC5A8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差额+69,338元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164BE82A-4902-42A2-B3EB-DAAD677E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C3E57509-9F1B-4AA5-8D23-E9F36F78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8,019元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6F502426-ACCC-4CBA-9431-D6614C0F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较团队均值+2,599元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E7F1BFD9-B04B-4E74-90B6-DDE323B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648E97FE-E188-49DD-90D4-EA1E3D98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+2,519元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D876412C-A57E-41D3-BACF-4A9C1832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超过目标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634A3CC1-4AA2-4605-A6C8-728A4C7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CC796484-B86D-461E-BFC1-3FD61882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72.55分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E8F6723C-B979-4773-9F05-97FBB139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11条记录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59DF3B2D-CB5A-404F-B0E8-010D3C4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8月均分75.96分，本月-3.42分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FBD5BBCA-6877-4337-84BE-619FD856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6/11条，占54.5%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6033F35B-DFA4-4F0B-A2B7-AFACCC1A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2/11条，占18.2%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C252B220-A30E-46CD-8E90-17CD4064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2条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B2C7044C-657A-456F-BA9D-9CCF0AE1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本月分数范围：46至87分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5EE5ABB9-C118-499F-9FD2-E478605D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含暂定归属52分，去除该条后均分74.60分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9E6622DD-6BEB-4D63-A7B3-98D7B151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延保　渗透率 40.0%（第1名）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9DEC9DB4-6F7C-4E23-AB21-F8134D6D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转介绍13，有效对接11，对接率84.6%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7E51017D-EE31-4E14-B456-7DB4E923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成交6单 / 核算销量15台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E2FF124F-5B4B-4521-B42C-6CA57CA9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无忧　渗透率 40.0%（第3名）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4A095429-2704-4E09-87BA-A25B9AE4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推荐12次，推荐率80.0%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1A61B3B5-E093-4B7B-87A4-AB787085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成交6单 / 核算销量15台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C45681C1-C668-4B8B-B1B8-E1DE9892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商业银行　渗透率 26.7%</a:t>
            </a:r>
          </a:p>
        </p:txBody>
      </p:sp>
      <p:sp>
        <p:nvSpPr>
          <p:cNvPr id="34" name="txt-33">
            <a:extLst xmlns:a="http://schemas.openxmlformats.org/drawingml/2006/main">
              <a:ext uri="{FF2B5EF4-FFF2-40B4-BE49-F238E27FC236}">
                <a16:creationId xmlns:a16="http://schemas.microsoft.com/office/drawing/2014/main" id="{47C04310-A6CA-4F73-8E50-6231A186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银行4单 / 核算销量15台</a:t>
            </a:r>
          </a:p>
        </p:txBody>
      </p:sp>
    </p:spTree>
    <p:extLst>
      <p:ext uri="{BB962C8B-B14F-4D97-AF65-F5344CB8AC3E}">
        <p14:creationId xmlns:p14="http://schemas.microsoft.com/office/powerpoint/2010/main" val="90001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2428875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2276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李增强｜9月个人复盘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9B9DFC7-467D-4C06-96B4-79B41047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26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D3B2A9B4-45B1-4738-AFE4-00E72A32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核算销量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30056633-84B8-481A-8134-F1810E48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8F4CF73A-BA75-47D0-8260-5B19CE9C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团队均值9.4台，低2.4台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86FFEF10-E951-48F5-88A7-1E188736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478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总毛利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D955C6DA-781B-4A4C-99EF-21A53B9B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32,230元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97C615E9-AEFC-4153-83C8-B05350CA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59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团队均值50,948元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差额-18,718元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1861E3D0-75E3-4385-9A56-E1F5507E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单车毛利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2C57B835-AED8-4397-9AA9-0964F43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4,604元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69569B9C-F0E4-4894-A8FA-B02FFDF3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457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较团队均值-816元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96998D8B-CC3D-4E5A-B3B9-C9C8B9E2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47825"/>
            <a:ext cx="2295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距5,500元目标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295853F9-34BD-4F71-9702-7C5C4E7E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295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D6A321"/>
                </a:solidFill>
                <a:latin typeface="微软雅黑"/>
                <a:ea typeface="微软雅黑"/>
                <a:cs typeface="微软雅黑"/>
              </a:rPr>
              <a:t>−896元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82F00262-F1E9-4807-8048-C6D92750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低于目标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37A902AB-2442-42F8-9BA8-3E0BA0F4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9月接待成绩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4E9B80A0-07C0-4F30-8A04-2E02417D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70.00分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E1B9EAC3-1EC1-4AF9-BFC2-9174F04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24条记录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3418BA41-1FD3-4B14-B5B2-D0A2EA0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8月均分77.82分，本月-7.82分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6E77C52E-A3A9-462F-9967-87D5E1D0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4866A"/>
                </a:solidFill>
                <a:latin typeface="微软雅黑"/>
                <a:ea typeface="微软雅黑"/>
                <a:cs typeface="微软雅黑"/>
              </a:rPr>
              <a:t>80分及以上 8/24条，占33.3%</a:t>
            </a:r>
          </a:p>
        </p:txBody>
      </p:sp>
      <p:sp>
        <p:nvSpPr>
          <p:cNvPr id="23" name="txt-22">
            <a:extLst xmlns:a="http://schemas.openxmlformats.org/drawingml/2006/main">
              <a:ext uri="{FF2B5EF4-FFF2-40B4-BE49-F238E27FC236}">
                <a16:creationId xmlns:a16="http://schemas.microsoft.com/office/drawing/2014/main" id="{230BB5A8-6BA7-425C-B480-04538C6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低于60分 7/24条，占29.2%</a:t>
            </a:r>
          </a:p>
        </p:txBody>
      </p:sp>
      <p:sp>
        <p:nvSpPr>
          <p:cNvPr id="24" name="txt-23">
            <a:extLst xmlns:a="http://schemas.openxmlformats.org/drawingml/2006/main">
              <a:ext uri="{FF2B5EF4-FFF2-40B4-BE49-F238E27FC236}">
                <a16:creationId xmlns:a16="http://schemas.microsoft.com/office/drawing/2014/main" id="{2F7F6DA1-22A2-4220-93C3-8BD7EA29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85分及以上录音 3条</a:t>
            </a:r>
          </a:p>
        </p:txBody>
      </p:sp>
      <p:sp>
        <p:nvSpPr>
          <p:cNvPr id="25" name="txt-24">
            <a:extLst xmlns:a="http://schemas.openxmlformats.org/drawingml/2006/main">
              <a:ext uri="{FF2B5EF4-FFF2-40B4-BE49-F238E27FC236}">
                <a16:creationId xmlns:a16="http://schemas.microsoft.com/office/drawing/2014/main" id="{BE37A144-A13F-420F-816C-5989A51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本月分数范围：42至91分</a:t>
            </a:r>
          </a:p>
        </p:txBody>
      </p:sp>
      <p:sp>
        <p:nvSpPr>
          <p:cNvPr id="26" name="txt-25">
            <a:extLst xmlns:a="http://schemas.openxmlformats.org/drawingml/2006/main">
              <a:ext uri="{FF2B5EF4-FFF2-40B4-BE49-F238E27FC236}">
                <a16:creationId xmlns:a16="http://schemas.microsoft.com/office/drawing/2014/main" id="{550CC9CC-2992-4E9F-891F-322CCA88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延保　渗透率 14.3%</a:t>
            </a:r>
          </a:p>
        </p:txBody>
      </p:sp>
      <p:sp>
        <p:nvSpPr>
          <p:cNvPr id="27" name="txt-26">
            <a:extLst xmlns:a="http://schemas.openxmlformats.org/drawingml/2006/main">
              <a:ext uri="{FF2B5EF4-FFF2-40B4-BE49-F238E27FC236}">
                <a16:creationId xmlns:a16="http://schemas.microsoft.com/office/drawing/2014/main" id="{C379D90A-A485-43A0-A5D5-D506429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转介绍5，有效对接3，对接率60.0%</a:t>
            </a:r>
          </a:p>
        </p:txBody>
      </p:sp>
      <p:sp>
        <p:nvSpPr>
          <p:cNvPr id="28" name="txt-27">
            <a:extLst xmlns:a="http://schemas.openxmlformats.org/drawingml/2006/main">
              <a:ext uri="{FF2B5EF4-FFF2-40B4-BE49-F238E27FC236}">
                <a16:creationId xmlns:a16="http://schemas.microsoft.com/office/drawing/2014/main" id="{BF24A764-A651-4651-B970-31CBB3A1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成交1单 / 核算销量7台</a:t>
            </a:r>
          </a:p>
        </p:txBody>
      </p:sp>
      <p:sp>
        <p:nvSpPr>
          <p:cNvPr id="29" name="txt-28">
            <a:extLst xmlns:a="http://schemas.openxmlformats.org/drawingml/2006/main">
              <a:ext uri="{FF2B5EF4-FFF2-40B4-BE49-F238E27FC236}">
                <a16:creationId xmlns:a16="http://schemas.microsoft.com/office/drawing/2014/main" id="{01E0CDB0-3E84-4116-B423-3A53C6A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无忧　渗透率 28.6%</a:t>
            </a:r>
          </a:p>
        </p:txBody>
      </p:sp>
      <p:sp>
        <p:nvSpPr>
          <p:cNvPr id="30" name="txt-29">
            <a:extLst xmlns:a="http://schemas.openxmlformats.org/drawingml/2006/main">
              <a:ext uri="{FF2B5EF4-FFF2-40B4-BE49-F238E27FC236}">
                <a16:creationId xmlns:a16="http://schemas.microsoft.com/office/drawing/2014/main" id="{6D810580-D319-4A4E-807F-D405EDB9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推荐6次，推荐率85.7%</a:t>
            </a:r>
          </a:p>
        </p:txBody>
      </p:sp>
      <p:sp>
        <p:nvSpPr>
          <p:cNvPr id="31" name="txt-30">
            <a:extLst xmlns:a="http://schemas.openxmlformats.org/drawingml/2006/main">
              <a:ext uri="{FF2B5EF4-FFF2-40B4-BE49-F238E27FC236}">
                <a16:creationId xmlns:a16="http://schemas.microsoft.com/office/drawing/2014/main" id="{E437E05B-C4D3-49DB-B406-AD85054F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成交2单 / 核算销量7台</a:t>
            </a:r>
          </a:p>
        </p:txBody>
      </p:sp>
      <p:sp>
        <p:nvSpPr>
          <p:cNvPr id="32" name="txt-31">
            <a:extLst xmlns:a="http://schemas.openxmlformats.org/drawingml/2006/main">
              <a:ext uri="{FF2B5EF4-FFF2-40B4-BE49-F238E27FC236}">
                <a16:creationId xmlns:a16="http://schemas.microsoft.com/office/drawing/2014/main" id="{2C9C7475-B4D6-4CEF-8D9A-D696FAC9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商业银行　渗透率 14.3%（第10名）</a:t>
            </a:r>
          </a:p>
        </p:txBody>
      </p:sp>
      <p:sp>
        <p:nvSpPr>
          <p:cNvPr id="33" name="txt-32">
            <a:extLst xmlns:a="http://schemas.openxmlformats.org/drawingml/2006/main">
              <a:ext uri="{FF2B5EF4-FFF2-40B4-BE49-F238E27FC236}">
                <a16:creationId xmlns:a16="http://schemas.microsoft.com/office/drawing/2014/main" id="{8EF17D88-E997-4493-8E7B-F1ECF3B0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38825"/>
            <a:ext cx="531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银行1单 / 核算销量7台</a:t>
            </a:r>
          </a:p>
        </p:txBody>
      </p:sp>
    </p:spTree>
    <p:extLst>
      <p:ext uri="{BB962C8B-B14F-4D97-AF65-F5344CB8AC3E}">
        <p14:creationId xmlns:p14="http://schemas.microsoft.com/office/powerpoint/2010/main" val="9000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9">
            <a:extLst xmlns:a="http://schemas.openxmlformats.org/drawingml/2006/main">
              <a:ext uri="{FF2B5EF4-FFF2-40B4-BE49-F238E27FC236}">
                <a16:creationId xmlns:a16="http://schemas.microsoft.com/office/drawing/2014/main" id="{F0ECAB94-BB6D-491C-932B-6EDF6B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029" y="190609"/>
            <a:ext cx="120015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3241EC-8A30-4D4F-B584-2050197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90609"/>
            <a:ext cx="9346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B35B4E-4A6C-4C4D-8BAE-4BCE677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986" y="190609"/>
            <a:ext cx="2979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16421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2">
            <a:extLst xmlns:a="http://schemas.openxmlformats.org/drawingml/2006/main">
              <a:ext uri="{FF2B5EF4-FFF2-40B4-BE49-F238E27FC236}">
                <a16:creationId xmlns:a16="http://schemas.microsoft.com/office/drawing/2014/main" id="{3F62D551-7A55-4871-A569-DE5FB02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0609"/>
            <a:ext cx="104775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10月目标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23D3D0FD-DF0D-4CFA-8515-FEFAC74C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314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2026年9月  /  27 / 28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00637569-4040-4D33-AF50-11A2C1F4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销量目标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D52FDB7C-109D-4631-B374-1D306604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110台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9CBADF14-D5F9-444A-ADCF-14837726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分期渗透率目标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9A026502-D7FA-4C2B-858E-75F56D4A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24075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65%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DDC2ADE6-7CC7-45EC-819D-15636615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延保渗透率目标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8A6F77AF-2B52-42B0-8110-10644FC5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24075"/>
            <a:ext cx="304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45%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1B79F285-FAAC-4FE6-A73B-6CB2FE96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无忧渗透率目标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77D49926-B1C8-49ED-AB49-C54AAF96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45%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BF4986C7-0935-4A0F-8FFF-40B23A9F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48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接待成绩目标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27B1A50C-6605-4B87-9BE2-F1D18CA2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85分</a:t>
            </a:r>
          </a:p>
        </p:txBody>
      </p:sp>
    </p:spTree>
    <p:extLst>
      <p:ext uri="{BB962C8B-B14F-4D97-AF65-F5344CB8AC3E}">
        <p14:creationId xmlns:p14="http://schemas.microsoft.com/office/powerpoint/2010/main" val="90002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50fc0d1114e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5830" y="2926715"/>
            <a:ext cx="5260340" cy="10052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26"/>
      </p:ext>
    </p:extLst>
  </p:cSld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2026-10-05T11:05:51.6580000Z</dcterms:created>
  <dcterms:modified xsi:type="dcterms:W3CDTF">2026-10-05T11:05:51.6580000Z</dcterms:modified>
</coreProperties>
</file>